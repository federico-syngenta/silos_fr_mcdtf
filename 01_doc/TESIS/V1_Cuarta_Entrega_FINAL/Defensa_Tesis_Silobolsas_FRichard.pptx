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bc74a596-35a2-8a88-da9c-5b6420537f01}">
          <p14:sldIdLst>
            <p14:sldId id="256"/>
            <p14:sldId id="257"/>
          </p14:sldIdLst>
        </p14:section>
        <p14:section name="Introducción" id="{8bc19cea-9c20-cc52-6bc7-57f25c4c1d99}">
          <p14:sldIdLst>
            <p14:sldId id="258"/>
            <p14:sldId id="259"/>
            <p14:sldId id="260"/>
            <p14:sldId id="261"/>
            <p14:sldId id="262"/>
          </p14:sldIdLst>
        </p14:section>
        <p14:section name="Datos y método" id="{861c0252-d895-6ecf-5be4-ea93b59f275e}">
          <p14:sldIdLst>
            <p14:sldId id="263"/>
            <p14:sldId id="264"/>
            <p14:sldId id="265"/>
            <p14:sldId id="266"/>
            <p14:sldId id="267"/>
            <p14:sldId id="268"/>
            <p14:sldId id="269"/>
            <p14:sldId id="270"/>
          </p14:sldIdLst>
        </p14:section>
        <p14:section name="Resultados" id="{e68471c2-4a51-98a8-a3e0-bbfc7459c7ba}">
          <p14:sldIdLst>
            <p14:sldId id="271"/>
            <p14:sldId id="272"/>
            <p14:sldId id="273"/>
            <p14:sldId id="274"/>
            <p14:sldId id="275"/>
            <p14:sldId id="276"/>
            <p14:sldId id="277"/>
          </p14:sldIdLst>
        </p14:section>
        <p14:section name="Validación y aplicación" id="{cde8ff61-a1bc-08ac-8925-bba2465fb6ed}">
          <p14:sldIdLst>
            <p14:sldId id="278"/>
            <p14:sldId id="279"/>
            <p14:sldId id="280"/>
            <p14:sldId id="281"/>
            <p14:sldId id="282"/>
          </p14:sldIdLst>
        </p14:section>
        <p14:section name="Cierre" id="{7247775d-560d-59f6-5fc5-0c370db6426a}">
          <p14:sldIdLst>
            <p14:sldId id="283"/>
            <p14:sldId id="284"/>
            <p14:sldId id="285"/>
            <p14:sldId id="286"/>
            <p14:sldId id="287"/>
          </p14:sldIdLst>
        </p14:section>
        <p14:section name="Final" id="{b28a96be-b89c-5314-213f-c8e6258a877b}">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1A5C"/>
                </a:solidFill>
                <a:latin typeface="+mn-lt"/>
              </a:defRPr>
            </a:pPr>
            <a:r>
              <a:rPr sz="1400" b="0" i="0" u="none" strike="noStrike">
                <a:solidFill>
                  <a:srgbClr val="121A5C"/>
                </a:solidFill>
                <a:latin typeface="+mn-lt"/>
              </a:rPr>
              <a:t>Falsos positivos sobre el test de 2020</a:t>
            </a:r>
          </a:p>
        </c:rich>
      </c:tx>
      <c:layout/>
      <c:overlay val="0"/>
    </c:title>
    <c:autoTitleDeleted val="0"/>
    <c:plotArea>
      <c:layout/>
      <c:barChart>
        <c:barDir val="col"/>
        <c:grouping val="clustered"/>
        <c:varyColors val="0"/>
        <c:ser>
          <c:idx val="0"/>
          <c:order val="0"/>
          <c:tx>
            <c:strRef>
              <c:f>Sheet1!$B$1</c:f>
              <c:strCache>
                <c:ptCount val="1"/>
                <c:pt idx="0">
                  <c:v>Falsos positivos</c:v>
                </c:pt>
              </c:strCache>
            </c:strRef>
          </c:tx>
          <c:spPr>
            <a:solidFill>
              <a:srgbClr val="9AA7D6"/>
            </a:solidFill>
            <a:effectLst/>
          </c:spPr>
          <c:invertIfNegative val="0"/>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dPt>
            <c:idx val="0"/>
            <c:invertIfNegative val="0"/>
            <c:bubble3D val="0"/>
            <c:spPr>
              <a:solidFill>
                <a:srgbClr val="9AA7D6"/>
              </a:solidFill>
              <a:effectLst/>
            </c:spPr>
          </c:dPt>
          <c:dPt>
            <c:idx val="1"/>
            <c:invertIfNegative val="0"/>
            <c:bubble3D val="0"/>
            <c:spPr>
              <a:solidFill>
                <a:srgbClr val="9AA7D6"/>
              </a:solidFill>
              <a:effectLst/>
            </c:spPr>
          </c:dPt>
          <c:dPt>
            <c:idx val="2"/>
            <c:invertIfNegative val="0"/>
            <c:bubble3D val="0"/>
            <c:spPr>
              <a:solidFill>
                <a:srgbClr val="9AA7D6"/>
              </a:solidFill>
              <a:effectLst/>
            </c:spPr>
          </c:dPt>
          <c:dPt>
            <c:idx val="3"/>
            <c:invertIfNegative val="0"/>
            <c:bubble3D val="0"/>
            <c:spPr>
              <a:solidFill>
                <a:srgbClr val="E3A72F"/>
              </a:solidFill>
              <a:effectLst/>
            </c:spPr>
          </c:dPt>
          <c:cat>
            <c:multiLvlStrRef>
              <c:f>Sheet1!$A$2:$A$5</c:f>
              <c:multiLvlStrCache>
                <c:ptCount val="4"/>
                <c:lvl>
                  <c:pt idx="0">
                    <c:v>V2</c:v>
                  </c:pt>
                  <c:pt idx="1">
                    <c:v>V3</c:v>
                  </c:pt>
                  <c:pt idx="2">
                    <c:v>V4</c:v>
                  </c:pt>
                  <c:pt idx="3">
                    <c:v>V5</c:v>
                  </c:pt>
                </c:lvl>
              </c:multiLvlStrCache>
            </c:multiLvlStrRef>
          </c:cat>
          <c:val>
            <c:numRef>
              <c:f>Sheet1!$B$2:$B$5</c:f>
              <c:numCache>
                <c:formatCode>General</c:formatCode>
                <c:ptCount val="4"/>
                <c:pt idx="0">
                  <c:v>227</c:v>
                </c:pt>
                <c:pt idx="1">
                  <c:v>110</c:v>
                </c:pt>
                <c:pt idx="2">
                  <c:v>181</c:v>
                </c:pt>
                <c:pt idx="3">
                  <c:v>76</c:v>
                </c:pt>
              </c:numCache>
            </c:numRef>
          </c:val>
        </c:ser>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3B"/>
                </a:solidFill>
                <a:latin typeface="+mn-lt"/>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9525" cap="flat">
              <a:solidFill>
                <a:srgbClr val="DDE2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9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1A5C"/>
                </a:solidFill>
                <a:latin typeface="+mn-lt"/>
              </a:defRPr>
            </a:pPr>
            <a:r>
              <a:rPr sz="1400" b="0" i="0" u="none" strike="noStrike">
                <a:solidFill>
                  <a:srgbClr val="121A5C"/>
                </a:solidFill>
                <a:latin typeface="+mn-lt"/>
              </a:rPr>
              <a:t>Falsos positivos según dónde recaen</a:t>
            </a:r>
          </a:p>
        </c:rich>
      </c:tx>
      <c:layout/>
      <c:overlay val="0"/>
    </c:title>
    <c:autoTitleDeleted val="0"/>
    <c:plotArea>
      <c:layout/>
      <c:barChart>
        <c:barDir val="col"/>
        <c:grouping val="stacked"/>
        <c:varyColors val="0"/>
        <c:ser>
          <c:idx val="0"/>
          <c:order val="0"/>
          <c:tx>
            <c:strRef>
              <c:f>Sheet1!$B$1</c:f>
              <c:strCache>
                <c:ptCount val="1"/>
                <c:pt idx="0">
                  <c:v>Sobre el fondo</c:v>
                </c:pt>
              </c:strCache>
            </c:strRef>
          </c:tx>
          <c:spPr>
            <a:solidFill>
              <a:srgbClr val="C0392B"/>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V2</c:v>
                  </c:pt>
                  <c:pt idx="1">
                    <c:v>V4</c:v>
                  </c:pt>
                  <c:pt idx="2">
                    <c:v>V5</c:v>
                  </c:pt>
                </c:lvl>
              </c:multiLvlStrCache>
            </c:multiLvlStrRef>
          </c:cat>
          <c:val>
            <c:numRef>
              <c:f>Sheet1!$B$2:$B$4</c:f>
              <c:numCache>
                <c:formatCode>General</c:formatCode>
                <c:ptCount val="3"/>
                <c:pt idx="0">
                  <c:v>208</c:v>
                </c:pt>
                <c:pt idx="1">
                  <c:v>166</c:v>
                </c:pt>
                <c:pt idx="2">
                  <c:v>50</c:v>
                </c:pt>
              </c:numCache>
            </c:numRef>
          </c:val>
        </c:ser>
        <c:ser>
          <c:idx val="1"/>
          <c:order val="1"/>
          <c:tx>
            <c:strRef>
              <c:f>Sheet1!$C$1</c:f>
              <c:strCache>
                <c:ptCount val="1"/>
                <c:pt idx="0">
                  <c:v>Sobre una silo-bolsa real</c:v>
                </c:pt>
              </c:strCache>
            </c:strRef>
          </c:tx>
          <c:spPr>
            <a:solidFill>
              <a:srgbClr val="9AA7D6"/>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V2</c:v>
                  </c:pt>
                  <c:pt idx="1">
                    <c:v>V4</c:v>
                  </c:pt>
                  <c:pt idx="2">
                    <c:v>V5</c:v>
                  </c:pt>
                </c:lvl>
              </c:multiLvlStrCache>
            </c:multiLvlStrRef>
          </c:cat>
          <c:val>
            <c:numRef>
              <c:f>Sheet1!$C$2:$C$4</c:f>
              <c:numCache>
                <c:formatCode>General</c:formatCode>
                <c:ptCount val="3"/>
                <c:pt idx="0">
                  <c:v>19</c:v>
                </c:pt>
                <c:pt idx="1">
                  <c:v>15</c:v>
                </c:pt>
                <c:pt idx="2">
                  <c:v>26</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3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DE2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9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3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1A5C"/>
                </a:solidFill>
                <a:latin typeface="+mn-lt"/>
              </a:defRPr>
            </a:pPr>
            <a:r>
              <a:rPr sz="1400" b="0" i="0" u="none" strike="noStrike">
                <a:solidFill>
                  <a:srgbClr val="121A5C"/>
                </a:solidFill>
                <a:latin typeface="+mn-lt"/>
              </a:rPr>
              <a:t>F1 sobre 2026 (29 teselas, 802 silo-bolsas)</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9AA7D6"/>
            </a:solidFill>
            <a:effectLst/>
          </c:spPr>
          <c:invertIfNegative val="0"/>
          <c:dLbls>
            <c:numFmt formatCode="0.00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dPt>
            <c:idx val="0"/>
            <c:invertIfNegative val="0"/>
            <c:bubble3D val="0"/>
            <c:spPr>
              <a:solidFill>
                <a:srgbClr val="9AA7D6"/>
              </a:solidFill>
              <a:effectLst/>
            </c:spPr>
          </c:dPt>
          <c:dPt>
            <c:idx val="1"/>
            <c:invertIfNegative val="0"/>
            <c:bubble3D val="0"/>
            <c:spPr>
              <a:solidFill>
                <a:srgbClr val="9AA7D6"/>
              </a:solidFill>
              <a:effectLst/>
            </c:spPr>
          </c:dPt>
          <c:dPt>
            <c:idx val="2"/>
            <c:invertIfNegative val="0"/>
            <c:bubble3D val="0"/>
            <c:spPr>
              <a:solidFill>
                <a:srgbClr val="9AA7D6"/>
              </a:solidFill>
              <a:effectLst/>
            </c:spPr>
          </c:dPt>
          <c:dPt>
            <c:idx val="3"/>
            <c:invertIfNegative val="0"/>
            <c:bubble3D val="0"/>
            <c:spPr>
              <a:solidFill>
                <a:srgbClr val="E3A72F"/>
              </a:solidFill>
              <a:effectLst/>
            </c:spPr>
          </c:dPt>
          <c:cat>
            <c:multiLvlStrRef>
              <c:f>Sheet1!$A$2:$A$5</c:f>
              <c:multiLvlStrCache>
                <c:ptCount val="4"/>
                <c:lvl>
                  <c:pt idx="0">
                    <c:v>V2</c:v>
                  </c:pt>
                  <c:pt idx="1">
                    <c:v>V3</c:v>
                  </c:pt>
                  <c:pt idx="2">
                    <c:v>V4</c:v>
                  </c:pt>
                  <c:pt idx="3">
                    <c:v>V5</c:v>
                  </c:pt>
                </c:lvl>
              </c:multiLvlStrCache>
            </c:multiLvlStrRef>
          </c:cat>
          <c:val>
            <c:numRef>
              <c:f>Sheet1!$B$2:$B$5</c:f>
              <c:numCache>
                <c:formatCode>General</c:formatCode>
                <c:ptCount val="4"/>
                <c:pt idx="0">
                  <c:v>0.718</c:v>
                </c:pt>
                <c:pt idx="1">
                  <c:v>0.73</c:v>
                </c:pt>
                <c:pt idx="2">
                  <c:v>0.751</c:v>
                </c:pt>
                <c:pt idx="3">
                  <c:v>0.801</c:v>
                </c:pt>
              </c:numCache>
            </c:numRef>
          </c:val>
        </c:ser>
        <c:dLbls>
          <c:numFmt formatCode="0.00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3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2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9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1A5C"/>
                </a:solidFill>
                <a:latin typeface="+mn-lt"/>
              </a:defRPr>
            </a:pPr>
            <a:r>
              <a:rPr sz="1400" b="0" i="0" u="none" strike="noStrike">
                <a:solidFill>
                  <a:srgbClr val="121A5C"/>
                </a:solidFill>
                <a:latin typeface="+mn-lt"/>
              </a:rPr>
              <a:t>Detecciones de V5 en una misma tesela, junio a agosto de 2021</a:t>
            </a:r>
          </a:p>
        </c:rich>
      </c:tx>
      <c:layout/>
      <c:overlay val="0"/>
    </c:title>
    <c:autoTitleDeleted val="0"/>
    <c:plotArea>
      <c:layout/>
      <c:barChart>
        <c:barDir val="col"/>
        <c:grouping val="clustered"/>
        <c:varyColors val="0"/>
        <c:ser>
          <c:idx val="0"/>
          <c:order val="0"/>
          <c:tx>
            <c:strRef>
              <c:f>Sheet1!$B$1</c:f>
              <c:strCache>
                <c:ptCount val="1"/>
                <c:pt idx="0">
                  <c:v>Detecciones</c:v>
                </c:pt>
              </c:strCache>
            </c:strRef>
          </c:tx>
          <c:spPr>
            <a:solidFill>
              <a:srgbClr val="1D24AB"/>
            </a:solidFill>
            <a:effectLst/>
          </c:spPr>
          <c:invertIfNegative val="0"/>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cat>
            <c:multiLvlStrRef>
              <c:f>Sheet1!$A$2:$A$9</c:f>
              <c:multiLvlStrCache>
                <c:ptCount val="8"/>
                <c:lvl>
                  <c:pt idx="0">
                    <c:v>03/06</c:v>
                  </c:pt>
                  <c:pt idx="1">
                    <c:v>13/06</c:v>
                  </c:pt>
                  <c:pt idx="2">
                    <c:v>05/07</c:v>
                  </c:pt>
                  <c:pt idx="3">
                    <c:v>20/07</c:v>
                  </c:pt>
                  <c:pt idx="4">
                    <c:v>28/07</c:v>
                  </c:pt>
                  <c:pt idx="5">
                    <c:v>07/08</c:v>
                  </c:pt>
                  <c:pt idx="6">
                    <c:v>19/08</c:v>
                  </c:pt>
                  <c:pt idx="7">
                    <c:v>29/08</c:v>
                  </c:pt>
                </c:lvl>
              </c:multiLvlStrCache>
            </c:multiLvlStrRef>
          </c:cat>
          <c:val>
            <c:numRef>
              <c:f>Sheet1!$B$2:$B$9</c:f>
              <c:numCache>
                <c:formatCode>General</c:formatCode>
                <c:ptCount val="8"/>
                <c:pt idx="0">
                  <c:v>58</c:v>
                </c:pt>
                <c:pt idx="1">
                  <c:v>51</c:v>
                </c:pt>
                <c:pt idx="2">
                  <c:v>46</c:v>
                </c:pt>
                <c:pt idx="3">
                  <c:v>47</c:v>
                </c:pt>
                <c:pt idx="4">
                  <c:v>41</c:v>
                </c:pt>
                <c:pt idx="5">
                  <c:v>35</c:v>
                </c:pt>
                <c:pt idx="6">
                  <c:v>30</c:v>
                </c:pt>
                <c:pt idx="7">
                  <c:v>29</c:v>
                </c:pt>
              </c:numCache>
            </c:numRef>
          </c:val>
        </c:ser>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3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DE2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9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Gracias al jurado y a mi director, Gonzalo Sad, por estar acá. Voy a presentar mi trabajo final de maestría, que trata sobre la detección automática de silo-bolsas en imágenes satelitales Sentinel-2 para el departamento de Marcos Juárez, en la zona núcleo. Más allá del detector en sí, el trabajo tiene una pregunta de fondo que es metodológica: si conviene invertir el esfuerzo de etiquetado en pocos datos muy bien curados o en muchos datos generados automáticamente. A lo largo de la presentación voy a mostrar cómo llegué a la respuesta y qué evidencia la sostiene.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presentación está organizada en cinco partes. Primero el problema: por qué vale la pena medir las silo-bolsas y por qué no es trivial hacerlo desde un satélite. Después el método: cómo armé los datos, el índice espectral que diseñé para generar etiquetas, la curación manual y el diseño experimental. En tercer lugar los resultados principales, que son el corazón de la tesis. Luego la validación sobre un año completamente nuevo, 2026, y un ejemplo de aplicación con seguimiento temporal. Y cierro con limitaciones, conclusiones y líneas de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Arranco por el problema y por la motivación del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Según el Ministerio, cerca del 40 % de la producción agrícola del país se guarda en silo-bolsas. Es una tecnología barata y flexible: permite conservar el grano entre seis meses y dos años en el mismo campo. Pero su valor no es solo logístico, también es financiero, porque le permite al productor vender cuando el precio le conviene y no cuando cosecha. Por eso le interesa a mucha gente: acopios, aseguradoras, financieras, exportadores y el propio Estado. Sin embargo, no hay hoy una forma escalable, frecuente y barata de saber cuántas silo-bolsas hay en el territorio y dónde están. Ese es el hueco que quise atacar.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está la dificultad central. En la imagen de la izquierda se ven silo-bolsas a escala real, en el medio en una imagen de alta resolución, y a la derecha lo que efectivamente ve mi modelo: Sentinel-2 a 10 metros por píxel. La bolsa se reduce a un rasgo lineal de pocos píxeles. A eso se suman otros dos desafíos. La variabilidad: cambian el suelo, la humedad y el estado de las bolsas entre años y entre meses. Y sobre todo las etiquetas: no hay ningún dataset público, así que la verdad de terreno la tuve que construir yo. Y ese último punto es justamente el que da origen a la pregunta de investigación.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pregunta que estructura la tesis. Cuando el etiquetado es caro, ¿conviene tener muchas etiquetas automáticas, aunque tengan ruido, o pocas etiquetas muy bien curadas a mano? Mi hipótesis es que la calidad pesa más que la cantidad. Aunque también tenía en cuenta el argumento contrario: un dataset grande aporta más variedad de fondos, orientaciones y condiciones. Para ponerlo a prueba diseñé una progresión de cuatro versiones de modelo manteniendo fija la arquitectura y variando solo los datos. La comparación central es entre V4, entrenado con cerca de 10.000 imágenes con etiquetas ruidosas, y V5, entrenado con 216 imágenes curadas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desarrollar y validar el detector, y medir cuánto pesa la calidad de las etiquetas. Lo bajé a seis objetivos específicos: construir la base de imágenes; diseñar el método de etiquetado con un índice espectral y curación manual; definir la progresión experimental; entrenar el modelo adaptado a objetos chicos y alargados, con la restricción de hacerlo en CPU; evaluar con métricas estándar sobre un conjunto de prueba independiente; y, por último, validar sobre un año que ningún modelo vio, que es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ahora a cómo construí los datos y el experimento.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área es el departamento de Marcos Juárez, en el sudeste de Córdoba. Lo cubren tres teselas de la grilla de Sentinel-2. Elegí la ventana de junio a agosto porque, como muestra el gráfico del ciclo productivo, después de la cosecha gruesa el grano queda embolsado en el campo, y el suelo está mayormente desnudo durante el barbecho invernal, lo que mejora el contraste de las bolsas. Trabajé de 2020 a 2025, y el procesamiento produjo algo más de 25.700 teselas de 1024 por 1024 píxeles.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pipeline, con un ejemplo real de una fecha de agosto de 2020. Descargo las bandas del repositorio público de AWS, compongo el RGB más el infrarrojo y enmascaro las nubes con la capa de clasificación de escena. Uno las tres teselas MGRS en un mosaico por fecha, recorto a la zona rural con una capa de IDECOR y teselo en parches de 1024 píxeles con 20 % de solapamiento. Todo está en notebooks numerados y reanudables, y el código está publicado en GitHub. Un detalle que declaro en la tesis: desde 2022 ESA aplica un desplazamiento radiométrico de menos mil a los productos L2A que el pipeline no corrige; como afecta igual a todas las versiones, no altera la comparación.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no etiquetar desde cero diseñé un índice espectral propio, el INBNV, de la familia de las diferencias normalizadas. Aprovecha que el plástico blanco es muy brillante en el verde y el rojo y moderado en el infrarrojo, mientras que la vegetación es al revés. Aplico un umbral adaptativo por tesela, el percentil 99,8, porque los valores cambian mucho entre fechas. A la derecha se ve el índice, la máscara y los polígonos candidatos. Lo importante es entender su rol: es un generador de candidatos, no un clasificador. Lo medí contra la verdad de terreno final: el 60 % de sus candidatos son falsos positivos y se le escapa el 22 % de las bolsas. Por eso la curación era imprescindible.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curación la hice en QGIS con un protocolo sistemático. Recorro cada tesela completa, sin limitarme a los candidatos, y decido con tres tipos de evidencia: la forma alargada, el brillo nítido y el contexto, porque las bolsas suelen estar junto a caminos internos o cerca de los cascos. A la izquierda se ven los confusores típicos que fui eliminando: suelos claros, caminos, nubes, bordes de zonas enmascaradas y hasta orillas de lagunas. Al final contrasto con las predicciones de un modelo previo para recuperar omisiones. En total curé 270 teselas, en unos tres meses. Declaro dos limitaciones: no hubo verificación a campo y fui el único anotador.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progresión experimental. V2 y V3 son las primeras aproximaciones: conjuntos chicos, muestreados al azar y etiquetados automáticamente con el índice; se diferencian sobre todo en el aumento de datos. V4 escala a unas 10.000 imágenes, todavía con etiquetas ruidosas pero con muestreo estratificado por año y mes. Y V5 usa solo 216 imágenes, pero curadas a mano, con un muestreo balanceado de doce imágenes por estrato y un filtro de distancia entre teselas para evitar fuga espacial. O sea, V5 trabaja con aproximadamente el 2 % de los datos de V4. Un detalle honesto: V5 no usó aumento de datos y V4 sí, lo que en todo caso juega en contra de 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un Faster R-CNN con backbone ResNet50 y red piramidal de características, preentrenado en ImageNet. Uso solo RGB para aprovechar bien esos pesos preentrenados; el infrarrojo queda para el etiquetado. Adapté las anclas al objeto: agregué una escala más chica, de 16 píxeles, y relaciones de aspecto extremas para que el detector espere objetos muy alargados en cualquier orientación. Todo se entrenó en CPU, con checkpoints por época para poder retomar. V5 tardó unas 22 horas. Y un dato que importa para la discusión: V5 procesó 7.320 pasadas de imagen frente a 42.500 de V4, así que su ventaja no viene de entrenar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Evalúo sobre 27 teselas de 2020 con 586 silo-bolsas curadas, excluyendo con una lista negra cualquier tesela que algún modelo haya visto en entrenamiento. Uso las métricas estándar de detección; no reporto exactitud porque en detección el fondo no es un conjunto contable. Adopté un IoU de 0,15 porque en objetos de pocos píxeles un desplazamiento mínimo de la caja hace caer el IoU aunque la detección sea correcta. Y agregué una segunda supresión de no máximos, porque el detector ponía varias cajas sobre una misma bolsa alargada, como se ve a la derecha. Para saber si las diferencias son reales, uso pruebas pareadas: Wilcoxon y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los resultados, que son el centro de la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principal. Con 216 imágenes curadas, V5 obtiene el mejor F1, 0,845, y la mejor precisión, 0,864. Sobre la curva completa de precisión y recall, su AP es 0,852, por delante de V4 con 0,810. Y lo hace con alrededor del 2 % de los datos de entrenamiento de V4. Verifiqué además que la ventaja no dependiera del umbral de confianza elegido: barriendo todo el rango, la curva de F1 de V5 queda por encima de las demás prácticamente en todos los puntos. Pero hay un detalle en la última columna que vale la pena mirar con atención, y es lo que muestro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Fíjense en esto: V2, V4 y V5 detectan exactamente la misma cantidad de silo-bolsas, 484 de 586. Verifiqué que no fuera un artefacto: barriendo el umbral, las curvas de aciertos se separan en todos los valores y justo se cruzan en 0,5. Entonces, la diferencia entre los modelos no está en cuántas bolsas encuentran, sino en cuánta superficie espuria agregan. Y ahí la diferencia es grande: V5 comete 76 falsos positivos, contra 181 de V4 y 227 de V2. Es decir, menos de la mitad que el modelo entrenado con cincuenta veces más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un test de 27 teselas había que verificar que las diferencias fueran reales. Apliqué dos pruebas pareadas por imagen: Wilcoxon sobre los falsos positivos y un bootstrap de dos mil remuestreos sobre la diferencia de AP. V5 supera a V4 y a V2 en las dos métricas, con p menores a 0,05 e intervalos de confianza que no incluyen el cero. En cambio, V4 y V2 no se distinguen entre sí: pasar de 500 a 10.000 imágenes con etiquetas ruidosas no produjo una mejora significativa. Para mí esta es una de las lecturas más fuertes del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de contar los falsos positivos, quise saber qué son. Clasifiqué cada uno según si cae sobre una silo-bolsa real o sobre el fondo. En V2 y V4, el 92 % recae sobre el fondo: caminos, suelos claros, techos, superficies que el índice etiquetó como bolsas y que el modelo aprendió de ese ruido. Son errores que ningún postprocesamiento puede corregir. En V5 un tercio cae sobre bolsas reales, que son cajas parciales o bolsas contiguas que en la verdad de terreno agrupé en una sola caja. La diferencia decisiva es en las falsas alarmas sobre el fondo: V5 las reduce de 166 a 50, alrededor de un 70 %.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Anticipo una objeción: V4 y V5 no difieren solo en las etiquetas, V5 se entrenó con más épocas y otra tasa de aprendizaje. Hay tres razones para atribuir la mejora a los datos. Primero, V5 usó mucho menos cómputo, no más: 7.320 pasadas de imagen contra 42.500. Segundo, V4 no estaba sub-entrenado: su pérdida ya se había aplanado y su recall es igual al de V5. Tercero, la literatura sobre ruido de etiquetas muestra que las redes primero aprenden lo consistente y después memorizan los errores, así que entrenar más a V4 tendería a consolidar sus falsas alarmas. Y hay una diferencia que juega en contra de V5: V4 usó aumento de datos y V5 no. Igual reconozco que el diseño no aísla una única variable, por eso hablo de eficiencia de datos y no de causalidad estricta.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ningún modelo pasa de 484? Descompuse las 586 bolsas en tres grupos. 439 las detectan las tres versiones: son los casos claros. 86 están en la frontera y cada modelo resuelve una parte distinta. Y 61 no las detecta nadie. Esas son más chicas, con una mediana de 6 píxeles de lado mayor frente a 8 de las detectadas, y casi la mitad están cortadas por el borde de la tesela o parcialmente bajo la máscara de nubes. A ese tamaño, en el nivel más fino de la red una bolsa queda reducida a un píxel del mapa de características. Es un límite físico y arquitectónico, no de entrenamiento, y por eso afecta a todas las versiones por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quiero mostrar si este resultado se sostiene en un año completamente nuevo, y cómo se usaría el detector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validar en el tiempo, repliqué el pipeline completo sobre 2026, un año que ningún modelo vio, y curé 29 teselas con 802 silo-bolsas, cubriendo los tres meses y las tres teselas MGRS. V5 vuelve a obtener el mejor F1, 0,801, y el mejor desempeño en las cuatro métricas. Pero hay un matiz interesante: el mecanismo cambia. En 2020 V5 ganaba porque cometía menos falsos positivos con el mismo recall; en 2026 los falsos positivos son parecidos a los de V4, y la ventaja viene del recall: detecta 636 bolsas contra 579. Las dos lecturas son consistentes con un modelo que discrimina mejor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dos teselas de 2026: con una cantidad parecida de falsos positivos, V5 recupera varias bolsas que V4 deja sin detectar. En términos estadísticos, V5 supera de manera significativa a la línea de base ruidosa en las dos métricas. Frente a V4, el AP favorece a V5 con un intervalo de confianza que excluye el cero, pero en falsos positivos no se distinguen. Por eso la describo como una ventaja consistente, de significancia acotada, y no como una superioridad establecida. Lo importante es que el resultado no obedece a un sobreajuste al año de prueba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uso concreto del detector es seguir una misma zona en el tiempo. Apliqué V5, sin ningún ajuste, sobre una tesela de unos 10 por 10 kilómetros con muchas silo-bolsas, en todas las fechas sin nubes de junio a agosto de 2021. Las detecciones bajan de manera sostenida, de 58 a principios de junio a 29 a fines de agosto, lo que es coherente con el grano que se va retirando a medida que se comercializa. Es importante aclarar que no hay verdad de terreno para esas fechas, así que son detecciones sin validar. Y un dato de escalabilidad: procesar el departamento entero para una fecha, 146 teselas, llevó 34 minutos en una computadora personal sin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se ve la misma tesela en dos fechas de 2021, con una zona ampliada fija a la derecha de cada imagen para seguir las mismas bolsas. A principios de junio hay muchas más detecciones que a fines de agosto. En el Apéndice F de la tesis están las quince fechas, una por año entre 2020 y 2026 y ocho dentro de 2021. Lo que quiero transmitir con esto es que el detector permite construir series temporales de almacenamiento a partir de imágenes públicas, que es justamente lo que hoy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las limitaciones, las conclusiones y las líneas de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ser claro con las limitaciones. Alrededor de un 10 % de las bolsas queda por debajo de lo que el sensor permite resolver. La verdad de terreno es fotointerpretación experta, sin verificación a campo y con un solo anotador. Identifiqué que desde 2022 ESA aplica un desplazamiento radiométrico que el pipeline no corrige; afecta por igual a todos los modelos, y en un análisis de sensibilidad vi que corregirlo mejora el desempeño, así que las métricas reportadas son, en todo caso, conservadoras. Y el estudio se limita a un departamento y a la ventana invernal. En lo ético, trabajo con imágenes públicas de resolución media, observo infraestructura y no personas, y propongo un uso agregado. Como el modelo no es exacto, no sería apropiado para fiscalizar casos individuales.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conclusión principal es que la calidad de la verdad de terreno pesa más que su cantidad. Con 216 imágenes curadas logré un modelo que iguala o supera al entrenado con cerca de 10.000 imágenes ruidosas: mejor F1, la mitad de falsos positivos y el mismo recall, con apenas el 2 % de los datos. Este resultado se sostiene sobre un año que el modelo nunca vio. Y además concluyo que la combinación de un índice espectral simple con una curación manual sistemática es una forma viable y reproducible de construir verdad de terreno para objetos pequeños en teledetección.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aporta esto a la práctica de la ciencia de datos, más allá del caso? Veo cuatro cosas. Primero, cuantifica sobre un problema real el retorno de curar datos frente a acumularlos: un argumento concreto para decidir dónde poner el presupuesto de etiquetado. Segundo, deja un esquema de etiquetado reutilizable: una regla física simple genera candidatos y la decisión queda en un especialista; sirve para cualquier objeto con una firma espectral distintiva. Tercero, muestra que en objetos pequeños las decisiones de evaluación cambian las conclusiones tanto como el modelo. Y cuarto, demuestra que se puede desarrollar y operar un sistema así sobre un departamento entero, con datos públicos y sin GPU, lo que baja mucho la barrera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Quedan varias líneas abiertas. En datos: extender la validación a más campañas y regiones, y validar la verdad de terreno a campo, con más de un anotador. En señal: incorporar el infrarrojo como entrada del modelo, fusionar con radar para no depender de las nubes, y corregir la escala radiométrica en todo el flujo. En el modelo: probar detectores más recientes, cajas orientadas, y medir con una ablación cuánto aportan las anclas adaptadas. Y en producto: pasar de detectar a segmentar para estimar volúmenes de grano, y llevar esto a una herramienta que puedan consultar los distintos actores.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gracias por la atención. Quedo a disposición para las preguntas del jurado.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21A5C"/>
        </a:solidFill>
      </p:bgPr>
    </p:bg>
    <p:spTree>
      <p:nvGrpSpPr>
        <p:cNvPr id="1" name=""/>
        <p:cNvGrpSpPr/>
        <p:nvPr/>
      </p:nvGrpSpPr>
      <p:grpSpPr>
        <a:xfrm>
          <a:off x="0" y="0"/>
          <a:ext cx="0" cy="0"/>
          <a:chOff x="0" y="0"/>
          <a:chExt cx="0" cy="0"/>
        </a:xfrm>
      </p:grpSpPr>
      <p:pic>
        <p:nvPicPr>
          <p:cNvPr id="2" name="Image 0" descr="/home/claude/ppt/ims/logo_blanco.png">    </p:cNvPr>
          <p:cNvPicPr>
            <a:picLocks noChangeAspect="1"/>
          </p:cNvPicPr>
          <p:nvPr/>
        </p:nvPicPr>
        <p:blipFill>
          <a:blip r:embed="rId1"/>
          <a:stretch>
            <a:fillRect/>
          </a:stretch>
        </p:blipFill>
        <p:spPr>
          <a:xfrm>
            <a:off x="640080" y="548640"/>
            <a:ext cx="2377440" cy="859536"/>
          </a:xfrm>
          <a:prstGeom prst="rect">
            <a:avLst/>
          </a:prstGeom>
        </p:spPr>
      </p:pic>
      <p:sp>
        <p:nvSpPr>
          <p:cNvPr id="3" name="Text 0"/>
          <p:cNvSpPr/>
          <p:nvPr>
            <p:ph idx="101" type="title" hasCustomPrompt="1"/>
          </p:nvPr>
        </p:nvSpPr>
        <p:spPr>
          <a:xfrm>
            <a:off x="640080" y="2011680"/>
            <a:ext cx="10881360" cy="182880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ph idx="102" type="body" hasCustomPrompt="1"/>
          </p:nvPr>
        </p:nvSpPr>
        <p:spPr>
          <a:xfrm>
            <a:off x="640080" y="4114800"/>
            <a:ext cx="10881360" cy="2011680"/>
          </a:xfrm>
          <a:prstGeom prst="rect">
            <a:avLst/>
          </a:prstGeom>
          <a:noFill/>
          <a:ln/>
        </p:spPr>
        <p:txBody>
          <a:bodyPr wrap="square" rtlCol="0"/>
          <a:lstStyle>
            <a:lvl1pPr indent="0" marL="0">
              <a:buNone/>
              <a:defRPr lang="en-US" sz="1800" dirty="0">
                <a:solidFill>
                  <a:schemeClr val="accent4"/>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121A5C"/>
        </a:solidFill>
      </p:bgPr>
    </p:bg>
    <p:spTree>
      <p:nvGrpSpPr>
        <p:cNvPr id="1" name=""/>
        <p:cNvGrpSpPr/>
        <p:nvPr/>
      </p:nvGrpSpPr>
      <p:grpSpPr>
        <a:xfrm>
          <a:off x="0" y="0"/>
          <a:ext cx="0" cy="0"/>
          <a:chOff x="0" y="0"/>
          <a:chExt cx="0" cy="0"/>
        </a:xfrm>
      </p:grpSpPr>
      <p:pic>
        <p:nvPicPr>
          <p:cNvPr id="2" name="Image 0" descr="/home/claude/ppt/ims/logo_blanco.png">    </p:cNvPr>
          <p:cNvPicPr>
            <a:picLocks noChangeAspect="1"/>
          </p:cNvPicPr>
          <p:nvPr/>
        </p:nvPicPr>
        <p:blipFill>
          <a:blip r:embed="rId1"/>
          <a:stretch>
            <a:fillRect/>
          </a:stretch>
        </p:blipFill>
        <p:spPr>
          <a:xfrm>
            <a:off x="10332720" y="5989320"/>
            <a:ext cx="1371600" cy="493776"/>
          </a:xfrm>
          <a:prstGeom prst="rect">
            <a:avLst/>
          </a:prstGeom>
        </p:spPr>
      </p:pic>
      <p:sp>
        <p:nvSpPr>
          <p:cNvPr id="3" name="Text 0"/>
          <p:cNvSpPr/>
          <p:nvPr>
            <p:ph idx="101" type="body" hasCustomPrompt="1"/>
          </p:nvPr>
        </p:nvSpPr>
        <p:spPr>
          <a:xfrm>
            <a:off x="822960" y="1463040"/>
            <a:ext cx="3657600" cy="1463040"/>
          </a:xfrm>
          <a:prstGeom prst="rect">
            <a:avLst/>
          </a:prstGeom>
          <a:noFill/>
          <a:ln/>
        </p:spPr>
        <p:txBody>
          <a:bodyPr wrap="square" rtlCol="0"/>
          <a:lstStyle>
            <a:lvl1pPr indent="0" marL="0">
              <a:buNone/>
              <a:defRPr lang="en-US" sz="9600" b="1" dirty="0">
                <a:solidFill>
                  <a:schemeClr val="accent2"/>
                </a:solidFill>
                <a:latin typeface="Cambria" pitchFamily="34" charset="0"/>
                <a:ea typeface="Cambria" pitchFamily="34" charset="-122"/>
                <a:cs typeface="Cambria" pitchFamily="34" charset="-120"/>
              </a:defRPr>
            </a:lvl1pPr>
          </a:lstStyle>
          <a:p>
            <a:pPr indent="0" marL="0">
              <a:buNone/>
            </a:pPr>
            <a:endParaRPr lang="en-US" sz="9600" dirty="0"/>
          </a:p>
        </p:txBody>
      </p:sp>
      <p:sp>
        <p:nvSpPr>
          <p:cNvPr id="4" name="Text 0"/>
          <p:cNvSpPr/>
          <p:nvPr>
            <p:ph idx="102" type="title" hasCustomPrompt="1"/>
          </p:nvPr>
        </p:nvSpPr>
        <p:spPr>
          <a:xfrm>
            <a:off x="822960" y="3063240"/>
            <a:ext cx="1051560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0"/>
          <p:cNvSpPr/>
          <p:nvPr>
            <p:ph idx="103" type="body" hasCustomPrompt="1"/>
          </p:nvPr>
        </p:nvSpPr>
        <p:spPr>
          <a:xfrm>
            <a:off x="822960" y="4297680"/>
            <a:ext cx="10058400" cy="1097280"/>
          </a:xfrm>
          <a:prstGeom prst="rect">
            <a:avLst/>
          </a:prstGeom>
          <a:noFill/>
          <a:ln/>
        </p:spPr>
        <p:txBody>
          <a:bodyPr wrap="square" rtlCol="0"/>
          <a:lstStyle>
            <a:lvl1pPr indent="0" marL="0">
              <a:buNone/>
              <a:defRPr lang="en-US" sz="1800" dirty="0">
                <a:solidFill>
                  <a:schemeClr val="accent4"/>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home/claude/ppt/ims/logo_color.png">    </p:cNvPr>
          <p:cNvPicPr>
            <a:picLocks noChangeAspect="1"/>
          </p:cNvPicPr>
          <p:nvPr/>
        </p:nvPicPr>
        <p:blipFill>
          <a:blip r:embed="rId1"/>
          <a:stretch>
            <a:fillRect/>
          </a:stretch>
        </p:blipFill>
        <p:spPr>
          <a:xfrm>
            <a:off x="10744200" y="6291072"/>
            <a:ext cx="914400" cy="329184"/>
          </a:xfrm>
          <a:prstGeom prst="rect">
            <a:avLst/>
          </a:prstGeom>
        </p:spPr>
      </p:pic>
      <p:sp>
        <p:nvSpPr>
          <p:cNvPr id="3" name="Text 0"/>
          <p:cNvSpPr/>
          <p:nvPr/>
        </p:nvSpPr>
        <p:spPr>
          <a:xfrm>
            <a:off x="548640" y="6309360"/>
            <a:ext cx="8686800" cy="292608"/>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Federico Richard · Detección de silo-bolsas con Sentinel-2 · Universidad Austral</a:t>
            </a:r>
            <a:endParaRPr lang="en-US" sz="1000" dirty="0"/>
          </a:p>
        </p:txBody>
      </p:sp>
      <p:sp>
        <p:nvSpPr>
          <p:cNvPr id="4" name="Text 1"/>
          <p:cNvSpPr/>
          <p:nvPr>
            <p:ph idx="102" type="body" hasCustomPrompt="1"/>
          </p:nvPr>
        </p:nvSpPr>
        <p:spPr>
          <a:xfrm>
            <a:off x="548640" y="320040"/>
            <a:ext cx="11064240" cy="320040"/>
          </a:xfrm>
          <a:prstGeom prst="rect">
            <a:avLst/>
          </a:prstGeom>
          <a:noFill/>
          <a:ln/>
        </p:spPr>
        <p:txBody>
          <a:bodyPr wrap="square" rtlCol="0"/>
          <a:lstStyle>
            <a:lvl1pPr indent="0" marL="0">
              <a:buNone/>
              <a:defRPr lang="en-US" sz="1200" b="1" spc="200" kern="0" dirty="0">
                <a:solidFill>
                  <a:schemeClr val="accent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5" name="Text 1"/>
          <p:cNvSpPr/>
          <p:nvPr>
            <p:ph idx="103" type="title" hasCustomPrompt="1"/>
          </p:nvPr>
        </p:nvSpPr>
        <p:spPr>
          <a:xfrm>
            <a:off x="548640" y="64008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011680"/>
            <a:ext cx="10881360" cy="1828800"/>
          </a:xfrm>
          <a:prstGeom prst="rect">
            <a:avLst/>
          </a:prstGeom>
          <a:noFill/>
          <a:ln/>
        </p:spPr>
        <p:txBody>
          <a:bodyPr wrap="square" lIns="0" tIns="0" rIns="0" bIns="0" rtlCol="0" anchor="b"/>
          <a:lstStyle/>
          <a:p>
            <a:pPr algn="l" indent="0" marL="0">
              <a:buNone/>
            </a:pPr>
            <a:r>
              <a:rPr lang="en-US" sz="3400" b="1" dirty="0">
                <a:solidFill>
                  <a:schemeClr val="bg1"/>
                </a:solidFill>
                <a:latin typeface="Cambria" pitchFamily="34" charset="0"/>
                <a:ea typeface="Cambria" pitchFamily="34" charset="-122"/>
                <a:cs typeface="Cambria" pitchFamily="34" charset="-120"/>
              </a:rPr>
              <a:t>Detección de silo-bolsas mediante técnicas de aprendizaje profundo en imágenes satelitales Sentinel-2 para el departamento de Marcos Juárez, zona núcleo de Argentina</a:t>
            </a:r>
            <a:endParaRPr lang="en-US" sz="3400" dirty="0"/>
          </a:p>
        </p:txBody>
      </p:sp>
      <p:sp>
        <p:nvSpPr>
          <p:cNvPr id="3" name="Text 0"/>
          <p:cNvSpPr/>
          <p:nvPr>
            <p:ph idx="102" type="body" hasCustomPrompt="1"/>
          </p:nvPr>
        </p:nvSpPr>
        <p:spPr>
          <a:xfrm>
            <a:off x="640080" y="4114800"/>
            <a:ext cx="10881360" cy="201168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Trabajo Final de Maestría · Maestría en Explotación de Datos y Gestión del Conocimiento</a:t>
            </a:r>
            <a:endParaRPr lang="en-US" sz="1800" dirty="0"/>
          </a:p>
          <a:p>
            <a:pPr indent="0" marL="0">
              <a:buNone/>
            </a:pPr>
            <a:r>
              <a:rPr lang="en-US" sz="1000" dirty="0">
                <a:solidFill>
                  <a:schemeClr val="accent4"/>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chemeClr val="bg1"/>
                </a:solidFill>
                <a:latin typeface="Calibri" pitchFamily="34" charset="0"/>
                <a:ea typeface="Calibri" pitchFamily="34" charset="-122"/>
                <a:cs typeface="Calibri" pitchFamily="34" charset="-120"/>
              </a:rPr>
              <a:t>Autor: Federico Richard</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Director: Gonzalo Sad</a:t>
            </a:r>
            <a:endParaRPr lang="en-US" sz="1800" dirty="0"/>
          </a:p>
          <a:p>
            <a:pPr indent="0" marL="0">
              <a:buNone/>
            </a:pPr>
            <a:r>
              <a:rPr lang="en-US" sz="1800" dirty="0">
                <a:solidFill>
                  <a:schemeClr val="accent4"/>
                </a:solidFill>
                <a:latin typeface="Calibri" pitchFamily="34" charset="0"/>
                <a:ea typeface="Calibri" pitchFamily="34" charset="-122"/>
                <a:cs typeface="Calibri" pitchFamily="34" charset="-120"/>
              </a:rPr>
              <a:t>Universidad Austral · Rosario, octubre de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RECORRIDO</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Qué vamos a ver</a:t>
            </a:r>
            <a:endParaRPr lang="en-US" sz="3200" dirty="0"/>
          </a:p>
        </p:txBody>
      </p:sp>
      <p:sp>
        <p:nvSpPr>
          <p:cNvPr id="4" name="numero"/>
          <p:cNvSpPr/>
          <p:nvPr/>
        </p:nvSpPr>
        <p:spPr>
          <a:xfrm>
            <a:off x="731520" y="1691640"/>
            <a:ext cx="685800" cy="685800"/>
          </a:xfrm>
          <a:prstGeom prst="ellipse">
            <a:avLst/>
          </a:prstGeom>
          <a:solidFill>
            <a:schemeClr val="accent1"/>
          </a:solidFill>
          <a:ln w="12700">
            <a:solidFill>
              <a:schemeClr val="accent1"/>
            </a:solidFill>
            <a:prstDash val="solid"/>
          </a:ln>
        </p:spPr>
      </p:sp>
      <p:sp>
        <p:nvSpPr>
          <p:cNvPr id="5" name="Text 3"/>
          <p:cNvSpPr txBox="1"/>
          <p:nvPr/>
        </p:nvSpPr>
        <p:spPr>
          <a:xfrm>
            <a:off x="731520" y="169164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691640" y="1709928"/>
            <a:ext cx="384048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El problema</a:t>
            </a:r>
            <a:endParaRPr lang="en-US" sz="2000" dirty="0"/>
          </a:p>
        </p:txBody>
      </p:sp>
      <p:sp>
        <p:nvSpPr>
          <p:cNvPr id="7" name="Text 5"/>
          <p:cNvSpPr txBox="1"/>
          <p:nvPr/>
        </p:nvSpPr>
        <p:spPr>
          <a:xfrm>
            <a:off x="1691640" y="2075688"/>
            <a:ext cx="5943600" cy="320040"/>
          </a:xfrm>
          <a:prstGeom prst="rect">
            <a:avLst/>
          </a:prstGeom>
          <a:noFill/>
          <a:ln/>
        </p:spPr>
        <p:txBody>
          <a:bodyPr wrap="square" lIns="0" tIns="0" rIns="0" bIns="0" rtlCol="0" anchor="ctr"/>
          <a:lstStyle/>
          <a:p>
            <a:pPr indent="0" marL="0">
              <a:buNone/>
            </a:pPr>
            <a:r>
              <a:rPr lang="en-US" sz="1500" dirty="0">
                <a:solidFill>
                  <a:schemeClr val="accent3"/>
                </a:solidFill>
              </a:rPr>
              <a:t>Por qué medir silo-bolsas y por qué es difícil</a:t>
            </a:r>
            <a:endParaRPr lang="en-US" sz="1500" dirty="0"/>
          </a:p>
        </p:txBody>
      </p:sp>
      <p:sp>
        <p:nvSpPr>
          <p:cNvPr id="8" name="numero"/>
          <p:cNvSpPr/>
          <p:nvPr/>
        </p:nvSpPr>
        <p:spPr>
          <a:xfrm>
            <a:off x="731520" y="2560320"/>
            <a:ext cx="685800" cy="685800"/>
          </a:xfrm>
          <a:prstGeom prst="ellipse">
            <a:avLst/>
          </a:prstGeom>
          <a:solidFill>
            <a:schemeClr val="accent1"/>
          </a:solidFill>
          <a:ln w="12700">
            <a:solidFill>
              <a:schemeClr val="accent1"/>
            </a:solidFill>
            <a:prstDash val="solid"/>
          </a:ln>
        </p:spPr>
      </p:sp>
      <p:sp>
        <p:nvSpPr>
          <p:cNvPr id="9" name="Text 7"/>
          <p:cNvSpPr txBox="1"/>
          <p:nvPr/>
        </p:nvSpPr>
        <p:spPr>
          <a:xfrm>
            <a:off x="731520" y="256032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02</a:t>
            </a:r>
            <a:endParaRPr lang="en-US" sz="1800" dirty="0"/>
          </a:p>
        </p:txBody>
      </p:sp>
      <p:sp>
        <p:nvSpPr>
          <p:cNvPr id="10" name="Text 8"/>
          <p:cNvSpPr txBox="1"/>
          <p:nvPr/>
        </p:nvSpPr>
        <p:spPr>
          <a:xfrm>
            <a:off x="1691640" y="2578608"/>
            <a:ext cx="384048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Datos y método</a:t>
            </a:r>
            <a:endParaRPr lang="en-US" sz="2000" dirty="0"/>
          </a:p>
        </p:txBody>
      </p:sp>
      <p:sp>
        <p:nvSpPr>
          <p:cNvPr id="11" name="Text 9"/>
          <p:cNvSpPr txBox="1"/>
          <p:nvPr/>
        </p:nvSpPr>
        <p:spPr>
          <a:xfrm>
            <a:off x="1691640" y="2944368"/>
            <a:ext cx="5943600" cy="320040"/>
          </a:xfrm>
          <a:prstGeom prst="rect">
            <a:avLst/>
          </a:prstGeom>
          <a:noFill/>
          <a:ln/>
        </p:spPr>
        <p:txBody>
          <a:bodyPr wrap="square" lIns="0" tIns="0" rIns="0" bIns="0" rtlCol="0" anchor="ctr"/>
          <a:lstStyle/>
          <a:p>
            <a:pPr indent="0" marL="0">
              <a:buNone/>
            </a:pPr>
            <a:r>
              <a:rPr lang="en-US" sz="1500" dirty="0">
                <a:solidFill>
                  <a:schemeClr val="accent3"/>
                </a:solidFill>
              </a:rPr>
              <a:t>Pipeline, índice INBNV, curación y diseño experimental</a:t>
            </a:r>
            <a:endParaRPr lang="en-US" sz="1500" dirty="0"/>
          </a:p>
        </p:txBody>
      </p:sp>
      <p:sp>
        <p:nvSpPr>
          <p:cNvPr id="12" name="numero"/>
          <p:cNvSpPr/>
          <p:nvPr/>
        </p:nvSpPr>
        <p:spPr>
          <a:xfrm>
            <a:off x="731520" y="3429000"/>
            <a:ext cx="685800" cy="685800"/>
          </a:xfrm>
          <a:prstGeom prst="ellipse">
            <a:avLst/>
          </a:prstGeom>
          <a:solidFill>
            <a:schemeClr val="accent2"/>
          </a:solidFill>
          <a:ln w="12700">
            <a:solidFill>
              <a:schemeClr val="accent2"/>
            </a:solidFill>
            <a:prstDash val="solid"/>
          </a:ln>
        </p:spPr>
      </p:sp>
      <p:sp>
        <p:nvSpPr>
          <p:cNvPr id="13" name="Text 11"/>
          <p:cNvSpPr txBox="1"/>
          <p:nvPr/>
        </p:nvSpPr>
        <p:spPr>
          <a:xfrm>
            <a:off x="731520" y="342900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03</a:t>
            </a:r>
            <a:endParaRPr lang="en-US" sz="1800" dirty="0"/>
          </a:p>
        </p:txBody>
      </p:sp>
      <p:sp>
        <p:nvSpPr>
          <p:cNvPr id="14" name="Text 12"/>
          <p:cNvSpPr txBox="1"/>
          <p:nvPr/>
        </p:nvSpPr>
        <p:spPr>
          <a:xfrm>
            <a:off x="1691640" y="3447288"/>
            <a:ext cx="384048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Resultados</a:t>
            </a:r>
            <a:endParaRPr lang="en-US" sz="2000" dirty="0"/>
          </a:p>
        </p:txBody>
      </p:sp>
      <p:sp>
        <p:nvSpPr>
          <p:cNvPr id="15" name="Text 13"/>
          <p:cNvSpPr txBox="1"/>
          <p:nvPr/>
        </p:nvSpPr>
        <p:spPr>
          <a:xfrm>
            <a:off x="1691640" y="3813048"/>
            <a:ext cx="5943600" cy="320040"/>
          </a:xfrm>
          <a:prstGeom prst="rect">
            <a:avLst/>
          </a:prstGeom>
          <a:noFill/>
          <a:ln/>
        </p:spPr>
        <p:txBody>
          <a:bodyPr wrap="square" lIns="0" tIns="0" rIns="0" bIns="0" rtlCol="0" anchor="ctr"/>
          <a:lstStyle/>
          <a:p>
            <a:pPr indent="0" marL="0">
              <a:buNone/>
            </a:pPr>
            <a:r>
              <a:rPr lang="en-US" sz="1500" dirty="0">
                <a:solidFill>
                  <a:schemeClr val="accent3"/>
                </a:solidFill>
              </a:rPr>
              <a:t>Calidad frente a cantidad de etiquetas en 2020</a:t>
            </a:r>
            <a:endParaRPr lang="en-US" sz="1500" dirty="0"/>
          </a:p>
        </p:txBody>
      </p:sp>
      <p:sp>
        <p:nvSpPr>
          <p:cNvPr id="16" name="numero"/>
          <p:cNvSpPr/>
          <p:nvPr/>
        </p:nvSpPr>
        <p:spPr>
          <a:xfrm>
            <a:off x="731520" y="4297680"/>
            <a:ext cx="685800" cy="685800"/>
          </a:xfrm>
          <a:prstGeom prst="ellipse">
            <a:avLst/>
          </a:prstGeom>
          <a:solidFill>
            <a:schemeClr val="accent1"/>
          </a:solidFill>
          <a:ln w="12700">
            <a:solidFill>
              <a:schemeClr val="accent1"/>
            </a:solidFill>
            <a:prstDash val="solid"/>
          </a:ln>
        </p:spPr>
      </p:sp>
      <p:sp>
        <p:nvSpPr>
          <p:cNvPr id="17" name="Text 15"/>
          <p:cNvSpPr txBox="1"/>
          <p:nvPr/>
        </p:nvSpPr>
        <p:spPr>
          <a:xfrm>
            <a:off x="731520" y="429768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04</a:t>
            </a:r>
            <a:endParaRPr lang="en-US" sz="1800" dirty="0"/>
          </a:p>
        </p:txBody>
      </p:sp>
      <p:sp>
        <p:nvSpPr>
          <p:cNvPr id="18" name="Text 16"/>
          <p:cNvSpPr txBox="1"/>
          <p:nvPr/>
        </p:nvSpPr>
        <p:spPr>
          <a:xfrm>
            <a:off x="1691640" y="4315968"/>
            <a:ext cx="384048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Validación y aplicación</a:t>
            </a:r>
            <a:endParaRPr lang="en-US" sz="2000" dirty="0"/>
          </a:p>
        </p:txBody>
      </p:sp>
      <p:sp>
        <p:nvSpPr>
          <p:cNvPr id="19" name="Text 17"/>
          <p:cNvSpPr txBox="1"/>
          <p:nvPr/>
        </p:nvSpPr>
        <p:spPr>
          <a:xfrm>
            <a:off x="1691640" y="4681728"/>
            <a:ext cx="5943600" cy="320040"/>
          </a:xfrm>
          <a:prstGeom prst="rect">
            <a:avLst/>
          </a:prstGeom>
          <a:noFill/>
          <a:ln/>
        </p:spPr>
        <p:txBody>
          <a:bodyPr wrap="square" lIns="0" tIns="0" rIns="0" bIns="0" rtlCol="0" anchor="ctr"/>
          <a:lstStyle/>
          <a:p>
            <a:pPr indent="0" marL="0">
              <a:buNone/>
            </a:pPr>
            <a:r>
              <a:rPr lang="en-US" sz="1500" dirty="0">
                <a:solidFill>
                  <a:schemeClr val="accent3"/>
                </a:solidFill>
              </a:rPr>
              <a:t>Un año nuevo (2026) y seguimiento temporal</a:t>
            </a:r>
            <a:endParaRPr lang="en-US" sz="1500" dirty="0"/>
          </a:p>
        </p:txBody>
      </p:sp>
      <p:sp>
        <p:nvSpPr>
          <p:cNvPr id="20" name="numero"/>
          <p:cNvSpPr/>
          <p:nvPr/>
        </p:nvSpPr>
        <p:spPr>
          <a:xfrm>
            <a:off x="731520" y="5166360"/>
            <a:ext cx="685800" cy="685800"/>
          </a:xfrm>
          <a:prstGeom prst="ellipse">
            <a:avLst/>
          </a:prstGeom>
          <a:solidFill>
            <a:schemeClr val="accent1"/>
          </a:solidFill>
          <a:ln w="12700">
            <a:solidFill>
              <a:schemeClr val="accent1"/>
            </a:solidFill>
            <a:prstDash val="solid"/>
          </a:ln>
        </p:spPr>
      </p:sp>
      <p:sp>
        <p:nvSpPr>
          <p:cNvPr id="21" name="Text 19"/>
          <p:cNvSpPr txBox="1"/>
          <p:nvPr/>
        </p:nvSpPr>
        <p:spPr>
          <a:xfrm>
            <a:off x="731520" y="516636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05</a:t>
            </a:r>
            <a:endParaRPr lang="en-US" sz="1800" dirty="0"/>
          </a:p>
        </p:txBody>
      </p:sp>
      <p:sp>
        <p:nvSpPr>
          <p:cNvPr id="22" name="Text 20"/>
          <p:cNvSpPr txBox="1"/>
          <p:nvPr/>
        </p:nvSpPr>
        <p:spPr>
          <a:xfrm>
            <a:off x="1691640" y="5184648"/>
            <a:ext cx="384048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Cierre</a:t>
            </a:r>
            <a:endParaRPr lang="en-US" sz="2000" dirty="0"/>
          </a:p>
        </p:txBody>
      </p:sp>
      <p:sp>
        <p:nvSpPr>
          <p:cNvPr id="23" name="Text 21"/>
          <p:cNvSpPr txBox="1"/>
          <p:nvPr/>
        </p:nvSpPr>
        <p:spPr>
          <a:xfrm>
            <a:off x="1691640" y="5550408"/>
            <a:ext cx="5943600" cy="320040"/>
          </a:xfrm>
          <a:prstGeom prst="rect">
            <a:avLst/>
          </a:prstGeom>
          <a:noFill/>
          <a:ln/>
        </p:spPr>
        <p:txBody>
          <a:bodyPr wrap="square" lIns="0" tIns="0" rIns="0" bIns="0" rtlCol="0" anchor="ctr"/>
          <a:lstStyle/>
          <a:p>
            <a:pPr indent="0" marL="0">
              <a:buNone/>
            </a:pPr>
            <a:r>
              <a:rPr lang="en-US" sz="1500" dirty="0">
                <a:solidFill>
                  <a:schemeClr val="accent3"/>
                </a:solidFill>
              </a:rPr>
              <a:t>Limitaciones, conclusiones y trabajos futuros</a:t>
            </a:r>
            <a:endParaRPr lang="en-US" sz="1500" dirty="0"/>
          </a:p>
        </p:txBody>
      </p:sp>
      <p:pic>
        <p:nvPicPr>
          <p:cNvPr id="24" name="fig_3_7" descr="/home/claude/ppt/ims/fig_3_7.jpg">    </p:cNvPr>
          <p:cNvPicPr>
            <a:picLocks noChangeAspect="1"/>
          </p:cNvPicPr>
          <p:nvPr/>
        </p:nvPicPr>
        <p:blipFill>
          <a:blip r:embed="rId1"/>
          <a:stretch>
            <a:fillRect/>
          </a:stretch>
        </p:blipFill>
        <p:spPr>
          <a:xfrm>
            <a:off x="7955280" y="2495398"/>
            <a:ext cx="3657600" cy="2598725"/>
          </a:xfrm>
          <a:prstGeom prst="rect">
            <a:avLst/>
          </a:prstGeom>
        </p:spPr>
      </p:pic>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822960" y="146304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01</a:t>
            </a:r>
            <a:endParaRPr lang="en-US" sz="9600" dirty="0"/>
          </a:p>
        </p:txBody>
      </p:sp>
      <p:sp>
        <p:nvSpPr>
          <p:cNvPr id="3" name="Text 0"/>
          <p:cNvSpPr/>
          <p:nvPr>
            <p:ph idx="102" type="title" hasCustomPrompt="1"/>
          </p:nvPr>
        </p:nvSpPr>
        <p:spPr>
          <a:xfrm>
            <a:off x="822960" y="3063240"/>
            <a:ext cx="10515600" cy="11887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El problema</a:t>
            </a:r>
            <a:endParaRPr lang="en-US" sz="4000" dirty="0"/>
          </a:p>
        </p:txBody>
      </p:sp>
      <p:sp>
        <p:nvSpPr>
          <p:cNvPr id="4" name="Text 0"/>
          <p:cNvSpPr/>
          <p:nvPr>
            <p:ph idx="103" type="body" hasCustomPrompt="1"/>
          </p:nvPr>
        </p:nvSpPr>
        <p:spPr>
          <a:xfrm>
            <a:off x="822960" y="4297680"/>
            <a:ext cx="10058400" cy="109728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Una infraestructura clave del agro que nadie mide de forma sistemática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CONTEXTO</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El silo-bolsa sostiene la logística del grano</a:t>
            </a:r>
            <a:endParaRPr lang="en-US" sz="3200" dirty="0"/>
          </a:p>
        </p:txBody>
      </p:sp>
      <p:sp>
        <p:nvSpPr>
          <p:cNvPr id="4" name="Text 2"/>
          <p:cNvSpPr txBox="1"/>
          <p:nvPr/>
        </p:nvSpPr>
        <p:spPr>
          <a:xfrm>
            <a:off x="731520" y="1737360"/>
            <a:ext cx="4206240" cy="868680"/>
          </a:xfrm>
          <a:prstGeom prst="rect">
            <a:avLst/>
          </a:prstGeom>
          <a:noFill/>
          <a:ln/>
        </p:spPr>
        <p:txBody>
          <a:bodyPr wrap="square" lIns="0" tIns="0" rIns="0" bIns="0" rtlCol="0" anchor="b"/>
          <a:lstStyle/>
          <a:p>
            <a:pPr indent="0" marL="0">
              <a:buNone/>
            </a:pPr>
            <a:r>
              <a:rPr lang="en-US" sz="6600" b="1" dirty="0">
                <a:solidFill>
                  <a:schemeClr val="accent1"/>
                </a:solidFill>
                <a:latin typeface="Cambria" pitchFamily="34" charset="0"/>
                <a:ea typeface="Cambria" pitchFamily="34" charset="-122"/>
                <a:cs typeface="Cambria" pitchFamily="34" charset="-120"/>
              </a:rPr>
              <a:t>≈40 %</a:t>
            </a:r>
            <a:endParaRPr lang="en-US" sz="6600" dirty="0"/>
          </a:p>
        </p:txBody>
      </p:sp>
      <p:sp>
        <p:nvSpPr>
          <p:cNvPr id="5" name="Text 3"/>
          <p:cNvSpPr txBox="1"/>
          <p:nvPr/>
        </p:nvSpPr>
        <p:spPr>
          <a:xfrm>
            <a:off x="731520" y="2651760"/>
            <a:ext cx="4206240" cy="685800"/>
          </a:xfrm>
          <a:prstGeom prst="rect">
            <a:avLst/>
          </a:prstGeom>
          <a:noFill/>
          <a:ln/>
        </p:spPr>
        <p:txBody>
          <a:bodyPr wrap="square" lIns="0" tIns="0" rIns="0" bIns="0" rtlCol="0" anchor="t"/>
          <a:lstStyle/>
          <a:p>
            <a:pPr indent="0" marL="0">
              <a:buNone/>
            </a:pPr>
            <a:r>
              <a:rPr lang="en-US" sz="1400" dirty="0">
                <a:solidFill>
                  <a:schemeClr val="accent3"/>
                </a:solidFill>
              </a:rPr>
              <a:t>de la producción agrícola argentina se conserva en silo-bolsas</a:t>
            </a:r>
            <a:endParaRPr lang="en-US" sz="1400" dirty="0"/>
          </a:p>
        </p:txBody>
      </p:sp>
      <p:sp>
        <p:nvSpPr>
          <p:cNvPr id="6" name="Text 4"/>
          <p:cNvSpPr txBox="1"/>
          <p:nvPr/>
        </p:nvSpPr>
        <p:spPr>
          <a:xfrm>
            <a:off x="731520" y="3611880"/>
            <a:ext cx="6035040" cy="24688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Permite almacenar entre seis meses y dos años, a bajo costo y en el propio campo.</a:t>
            </a:r>
            <a:endParaRPr lang="en-US" sz="1600" dirty="0"/>
          </a:p>
          <a:p>
            <a:pPr marL="203200" indent="-203200">
              <a:spcAft>
                <a:spcPts val="800"/>
              </a:spcAft>
              <a:buSzPct val="100000"/>
              <a:buChar char="•"/>
            </a:pPr>
            <a:r>
              <a:rPr lang="en-US" sz="1600" dirty="0">
                <a:solidFill>
                  <a:schemeClr val="tx1"/>
                </a:solidFill>
              </a:rPr>
              <a:t>Habilita la venta a contraestación: el productor desacopla la venta del calendario de cosecha.</a:t>
            </a:r>
            <a:endParaRPr lang="en-US" sz="1600" dirty="0"/>
          </a:p>
          <a:p>
            <a:pPr marL="203200" indent="-203200">
              <a:spcAft>
                <a:spcPts val="800"/>
              </a:spcAft>
              <a:buSzPct val="100000"/>
              <a:buChar char="•"/>
            </a:pPr>
            <a:r>
              <a:rPr lang="en-US" sz="1600" dirty="0">
                <a:solidFill>
                  <a:schemeClr val="tx1"/>
                </a:solidFill>
              </a:rPr>
              <a:t>Interesa a acopios, aseguradoras, financieras, exportadores y organismos públicos.</a:t>
            </a:r>
            <a:endParaRPr lang="en-US" sz="1600" dirty="0"/>
          </a:p>
          <a:p>
            <a:pPr marL="203200" indent="-203200">
              <a:spcAft>
                <a:spcPts val="800"/>
              </a:spcAft>
              <a:buSzPct val="100000"/>
              <a:buChar char="•"/>
            </a:pPr>
            <a:r>
              <a:rPr lang="en-US" sz="1600" dirty="0">
                <a:solidFill>
                  <a:schemeClr val="tx1"/>
                </a:solidFill>
              </a:rPr>
              <a:t>Hoy no existe un mecanismo </a:t>
            </a:r>
            <a:pPr indent="0" marL="0">
              <a:spcAft>
                <a:spcPts val="800"/>
              </a:spcAft>
              <a:buNone/>
            </a:pPr>
            <a:r>
              <a:rPr lang="en-US" sz="1600" b="1" dirty="0">
                <a:solidFill>
                  <a:schemeClr val="accent1"/>
                </a:solidFill>
              </a:rPr>
              <a:t>escalable, frecuente y de bajo costo</a:t>
            </a:r>
            <a:pPr indent="0" marL="0">
              <a:spcAft>
                <a:spcPts val="800"/>
              </a:spcAft>
              <a:buNone/>
            </a:pPr>
            <a:r>
              <a:rPr lang="en-US" sz="1600" dirty="0">
                <a:solidFill>
                  <a:schemeClr val="tx1"/>
                </a:solidFill>
              </a:rPr>
              <a:t> para saber cuántas hay y dónde.</a:t>
            </a:r>
            <a:endParaRPr lang="en-US" sz="1600" dirty="0"/>
          </a:p>
        </p:txBody>
      </p:sp>
      <p:pic>
        <p:nvPicPr>
          <p:cNvPr id="7" name="fig_2_2a" descr="/home/claude/ppt/ims/fig_2_2a.jpg">    </p:cNvPr>
          <p:cNvPicPr>
            <a:picLocks noChangeAspect="1"/>
          </p:cNvPicPr>
          <p:nvPr/>
        </p:nvPicPr>
        <p:blipFill>
          <a:blip r:embed="rId1"/>
          <a:stretch>
            <a:fillRect/>
          </a:stretch>
        </p:blipFill>
        <p:spPr>
          <a:xfrm>
            <a:off x="7223760" y="2192143"/>
            <a:ext cx="4389120" cy="3296674"/>
          </a:xfrm>
          <a:prstGeom prst="rect">
            <a:avLst/>
          </a:prstGeom>
        </p:spPr>
      </p:pic>
      <p:sp>
        <p:nvSpPr>
          <p:cNvPr id="8" name="Text 5"/>
          <p:cNvSpPr txBox="1"/>
          <p:nvPr/>
        </p:nvSpPr>
        <p:spPr>
          <a:xfrm>
            <a:off x="7223760" y="6053328"/>
            <a:ext cx="4389120" cy="274320"/>
          </a:xfrm>
          <a:prstGeom prst="rect">
            <a:avLst/>
          </a:prstGeom>
          <a:noFill/>
          <a:ln/>
        </p:spPr>
        <p:txBody>
          <a:bodyPr wrap="square" lIns="0" tIns="0" rIns="0" bIns="0" rtlCol="0" anchor="ctr"/>
          <a:lstStyle/>
          <a:p>
            <a:pPr indent="0" marL="0">
              <a:buNone/>
            </a:pPr>
            <a:r>
              <a:rPr lang="en-US" sz="1000" i="1" dirty="0">
                <a:solidFill>
                  <a:schemeClr val="accent3"/>
                </a:solidFill>
              </a:rPr>
              <a:t>Silo-bolsas a escala real.</a:t>
            </a:r>
            <a:endParaRPr lang="en-US" sz="10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EL DESAFÍO</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 10 metros por píxel, una silo-bolsa son pocos píxeles</a:t>
            </a:r>
            <a:endParaRPr lang="en-US" sz="3200" dirty="0"/>
          </a:p>
        </p:txBody>
      </p:sp>
      <p:pic>
        <p:nvPicPr>
          <p:cNvPr id="4" name="fig_2_2" descr="/home/claude/ppt/ims/fig_2_2.jpg">    </p:cNvPr>
          <p:cNvPicPr>
            <a:picLocks noChangeAspect="1"/>
          </p:cNvPicPr>
          <p:nvPr/>
        </p:nvPicPr>
        <p:blipFill>
          <a:blip r:embed="rId1"/>
          <a:stretch>
            <a:fillRect/>
          </a:stretch>
        </p:blipFill>
        <p:spPr>
          <a:xfrm>
            <a:off x="548640" y="1645554"/>
            <a:ext cx="11064240" cy="2743932"/>
          </a:xfrm>
          <a:prstGeom prst="rect">
            <a:avLst/>
          </a:prstGeom>
        </p:spPr>
      </p:pic>
      <p:sp>
        <p:nvSpPr>
          <p:cNvPr id="5" name="tarjeta"/>
          <p:cNvSpPr/>
          <p:nvPr/>
        </p:nvSpPr>
        <p:spPr>
          <a:xfrm>
            <a:off x="548640" y="4617720"/>
            <a:ext cx="3566160" cy="1463040"/>
          </a:xfrm>
          <a:prstGeom prst="roundRect">
            <a:avLst>
              <a:gd name="adj" fmla="val 7500"/>
            </a:avLst>
          </a:prstGeom>
          <a:solidFill>
            <a:schemeClr val="bg2"/>
          </a:solidFill>
          <a:ln w="12700">
            <a:solidFill>
              <a:schemeClr val="bg2"/>
            </a:solidFill>
            <a:prstDash val="solid"/>
          </a:ln>
        </p:spPr>
      </p:sp>
      <p:sp>
        <p:nvSpPr>
          <p:cNvPr id="6" name="Text 3"/>
          <p:cNvSpPr txBox="1"/>
          <p:nvPr/>
        </p:nvSpPr>
        <p:spPr>
          <a:xfrm>
            <a:off x="777240" y="4782312"/>
            <a:ext cx="31089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Resolución</a:t>
            </a:r>
            <a:endParaRPr lang="en-US" sz="1700" dirty="0"/>
          </a:p>
        </p:txBody>
      </p:sp>
      <p:sp>
        <p:nvSpPr>
          <p:cNvPr id="7" name="Text 4"/>
          <p:cNvSpPr txBox="1"/>
          <p:nvPr/>
        </p:nvSpPr>
        <p:spPr>
          <a:xfrm>
            <a:off x="777240" y="5239512"/>
            <a:ext cx="3108960" cy="685800"/>
          </a:xfrm>
          <a:prstGeom prst="rect">
            <a:avLst/>
          </a:prstGeom>
          <a:noFill/>
          <a:ln/>
        </p:spPr>
        <p:txBody>
          <a:bodyPr wrap="square" lIns="0" tIns="0" rIns="0" bIns="0" rtlCol="0" anchor="t"/>
          <a:lstStyle/>
          <a:p>
            <a:pPr indent="0" marL="0">
              <a:buNone/>
            </a:pPr>
            <a:r>
              <a:rPr lang="en-US" sz="1400" dirty="0">
                <a:solidFill>
                  <a:schemeClr val="tx1"/>
                </a:solidFill>
              </a:rPr>
              <a:t>Una bolsa de 3 a 5 m de ancho y 60 a 75 m de largo ocupa apenas unos pocos píxeles de Sentinel-2.</a:t>
            </a:r>
            <a:endParaRPr lang="en-US" sz="1400" dirty="0"/>
          </a:p>
        </p:txBody>
      </p:sp>
      <p:sp>
        <p:nvSpPr>
          <p:cNvPr id="8" name="tarjeta"/>
          <p:cNvSpPr/>
          <p:nvPr/>
        </p:nvSpPr>
        <p:spPr>
          <a:xfrm>
            <a:off x="4297680" y="4617720"/>
            <a:ext cx="3566160" cy="1463040"/>
          </a:xfrm>
          <a:prstGeom prst="roundRect">
            <a:avLst>
              <a:gd name="adj" fmla="val 7500"/>
            </a:avLst>
          </a:prstGeom>
          <a:solidFill>
            <a:schemeClr val="bg2"/>
          </a:solidFill>
          <a:ln w="12700">
            <a:solidFill>
              <a:schemeClr val="bg2"/>
            </a:solidFill>
            <a:prstDash val="solid"/>
          </a:ln>
        </p:spPr>
      </p:sp>
      <p:sp>
        <p:nvSpPr>
          <p:cNvPr id="9" name="Text 6"/>
          <p:cNvSpPr txBox="1"/>
          <p:nvPr/>
        </p:nvSpPr>
        <p:spPr>
          <a:xfrm>
            <a:off x="4526280" y="4782312"/>
            <a:ext cx="31089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Variabilidad</a:t>
            </a:r>
            <a:endParaRPr lang="en-US" sz="1700" dirty="0"/>
          </a:p>
        </p:txBody>
      </p:sp>
      <p:sp>
        <p:nvSpPr>
          <p:cNvPr id="10" name="Text 7"/>
          <p:cNvSpPr txBox="1"/>
          <p:nvPr/>
        </p:nvSpPr>
        <p:spPr>
          <a:xfrm>
            <a:off x="4526280" y="5239512"/>
            <a:ext cx="3108960" cy="685800"/>
          </a:xfrm>
          <a:prstGeom prst="rect">
            <a:avLst/>
          </a:prstGeom>
          <a:noFill/>
          <a:ln/>
        </p:spPr>
        <p:txBody>
          <a:bodyPr wrap="square" lIns="0" tIns="0" rIns="0" bIns="0" rtlCol="0" anchor="t"/>
          <a:lstStyle/>
          <a:p>
            <a:pPr indent="0" marL="0">
              <a:buNone/>
            </a:pPr>
            <a:r>
              <a:rPr lang="en-US" sz="1400" dirty="0">
                <a:solidFill>
                  <a:schemeClr val="tx1"/>
                </a:solidFill>
              </a:rPr>
              <a:t>Cambian el suelo, la humedad, la fecha y el estado de la bolsa: completa, consumida, aislada o en batería.</a:t>
            </a:r>
            <a:endParaRPr lang="en-US" sz="1400" dirty="0"/>
          </a:p>
        </p:txBody>
      </p:sp>
      <p:sp>
        <p:nvSpPr>
          <p:cNvPr id="11" name="tarjeta"/>
          <p:cNvSpPr/>
          <p:nvPr/>
        </p:nvSpPr>
        <p:spPr>
          <a:xfrm>
            <a:off x="8046720" y="4617720"/>
            <a:ext cx="3566160" cy="1463040"/>
          </a:xfrm>
          <a:prstGeom prst="roundRect">
            <a:avLst>
              <a:gd name="adj" fmla="val 7500"/>
            </a:avLst>
          </a:prstGeom>
          <a:solidFill>
            <a:schemeClr val="bg2"/>
          </a:solidFill>
          <a:ln w="12700">
            <a:solidFill>
              <a:schemeClr val="bg2"/>
            </a:solidFill>
            <a:prstDash val="solid"/>
          </a:ln>
        </p:spPr>
      </p:sp>
      <p:sp>
        <p:nvSpPr>
          <p:cNvPr id="12" name="Text 9"/>
          <p:cNvSpPr txBox="1"/>
          <p:nvPr/>
        </p:nvSpPr>
        <p:spPr>
          <a:xfrm>
            <a:off x="8275320" y="4782312"/>
            <a:ext cx="31089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Etiquetas</a:t>
            </a:r>
            <a:endParaRPr lang="en-US" sz="1700" dirty="0"/>
          </a:p>
        </p:txBody>
      </p:sp>
      <p:sp>
        <p:nvSpPr>
          <p:cNvPr id="13" name="Text 10"/>
          <p:cNvSpPr txBox="1"/>
          <p:nvPr/>
        </p:nvSpPr>
        <p:spPr>
          <a:xfrm>
            <a:off x="8275320" y="5239512"/>
            <a:ext cx="3108960" cy="685800"/>
          </a:xfrm>
          <a:prstGeom prst="rect">
            <a:avLst/>
          </a:prstGeom>
          <a:noFill/>
          <a:ln/>
        </p:spPr>
        <p:txBody>
          <a:bodyPr wrap="square" lIns="0" tIns="0" rIns="0" bIns="0" rtlCol="0" anchor="t"/>
          <a:lstStyle/>
          <a:p>
            <a:pPr indent="0" marL="0">
              <a:buNone/>
            </a:pPr>
            <a:r>
              <a:rPr lang="en-US" sz="1400" dirty="0">
                <a:solidFill>
                  <a:schemeClr val="tx1"/>
                </a:solidFill>
              </a:rPr>
              <a:t>No existe un dataset público de silo-bolsas en Sentinel-2: la verdad de terreno hay que construirla desde cero.</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PREGUNTA DE INVESTIGACIÓN</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¿Calidad o cantidad de etiquetas?</a:t>
            </a:r>
            <a:endParaRPr lang="en-US" sz="3200" dirty="0"/>
          </a:p>
        </p:txBody>
      </p:sp>
      <p:sp>
        <p:nvSpPr>
          <p:cNvPr id="4" name="pregunta"/>
          <p:cNvSpPr/>
          <p:nvPr/>
        </p:nvSpPr>
        <p:spPr>
          <a:xfrm>
            <a:off x="548640" y="1691640"/>
            <a:ext cx="11064240" cy="1828800"/>
          </a:xfrm>
          <a:prstGeom prst="roundRect">
            <a:avLst>
              <a:gd name="adj" fmla="val 7500"/>
            </a:avLst>
          </a:prstGeom>
          <a:solidFill>
            <a:schemeClr val="tx2"/>
          </a:solidFill>
          <a:ln w="12700">
            <a:solidFill>
              <a:schemeClr val="tx2"/>
            </a:solidFill>
            <a:prstDash val="solid"/>
          </a:ln>
        </p:spPr>
      </p:sp>
      <p:sp>
        <p:nvSpPr>
          <p:cNvPr id="5" name="Text 3"/>
          <p:cNvSpPr txBox="1"/>
          <p:nvPr/>
        </p:nvSpPr>
        <p:spPr>
          <a:xfrm>
            <a:off x="914400" y="1783080"/>
            <a:ext cx="10332720" cy="164592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¿Produce un conjunto de entrenamiento pequeño con etiquetas curadas manualmente un detector de mejor desempeño que un conjunto mucho mayor con etiquetas ruidosas generadas automáticamente?</a:t>
            </a:r>
            <a:endParaRPr lang="en-US" sz="2200" dirty="0"/>
          </a:p>
        </p:txBody>
      </p:sp>
      <p:sp>
        <p:nvSpPr>
          <p:cNvPr id="6" name="tarjeta"/>
          <p:cNvSpPr/>
          <p:nvPr/>
        </p:nvSpPr>
        <p:spPr>
          <a:xfrm>
            <a:off x="548640" y="3794760"/>
            <a:ext cx="5394960" cy="2240280"/>
          </a:xfrm>
          <a:prstGeom prst="roundRect">
            <a:avLst>
              <a:gd name="adj" fmla="val 4898"/>
            </a:avLst>
          </a:prstGeom>
          <a:solidFill>
            <a:schemeClr val="bg2"/>
          </a:solidFill>
          <a:ln w="12700">
            <a:solidFill>
              <a:schemeClr val="bg2"/>
            </a:solidFill>
            <a:prstDash val="solid"/>
          </a:ln>
        </p:spPr>
      </p:sp>
      <p:sp>
        <p:nvSpPr>
          <p:cNvPr id="7" name="Text 5"/>
          <p:cNvSpPr txBox="1"/>
          <p:nvPr/>
        </p:nvSpPr>
        <p:spPr>
          <a:xfrm>
            <a:off x="777240" y="3959352"/>
            <a:ext cx="49377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Hipótesis</a:t>
            </a:r>
            <a:endParaRPr lang="en-US" sz="1700" dirty="0"/>
          </a:p>
        </p:txBody>
      </p:sp>
      <p:sp>
        <p:nvSpPr>
          <p:cNvPr id="8" name="Text 6"/>
          <p:cNvSpPr txBox="1"/>
          <p:nvPr/>
        </p:nvSpPr>
        <p:spPr>
          <a:xfrm>
            <a:off x="777240" y="4416552"/>
            <a:ext cx="4937760" cy="1463040"/>
          </a:xfrm>
          <a:prstGeom prst="rect">
            <a:avLst/>
          </a:prstGeom>
          <a:noFill/>
          <a:ln/>
        </p:spPr>
        <p:txBody>
          <a:bodyPr wrap="square" lIns="0" tIns="0" rIns="0" bIns="0" rtlCol="0" anchor="t"/>
          <a:lstStyle/>
          <a:p>
            <a:pPr indent="0" marL="0">
              <a:buNone/>
            </a:pPr>
            <a:r>
              <a:rPr lang="en-US" sz="1400" dirty="0">
                <a:solidFill>
                  <a:schemeClr val="tx1"/>
                </a:solidFill>
              </a:rPr>
              <a:t>La calidad de la verdad de terreno prima sobre su cantidad: un dataset reducido y limpio puede igualar o superar a uno mucho más grande pero ruidoso. Es, en definitiva, poner a prueba el principio de garbage in, garbage out.</a:t>
            </a:r>
            <a:endParaRPr lang="en-US" sz="1400" dirty="0"/>
          </a:p>
        </p:txBody>
      </p:sp>
      <p:sp>
        <p:nvSpPr>
          <p:cNvPr id="9" name="tarjeta"/>
          <p:cNvSpPr/>
          <p:nvPr/>
        </p:nvSpPr>
        <p:spPr>
          <a:xfrm>
            <a:off x="6217920" y="3794760"/>
            <a:ext cx="5394960" cy="2240280"/>
          </a:xfrm>
          <a:prstGeom prst="roundRect">
            <a:avLst>
              <a:gd name="adj" fmla="val 4898"/>
            </a:avLst>
          </a:prstGeom>
          <a:solidFill>
            <a:schemeClr val="bg2"/>
          </a:solidFill>
          <a:ln w="12700">
            <a:solidFill>
              <a:schemeClr val="bg2"/>
            </a:solidFill>
            <a:prstDash val="solid"/>
          </a:ln>
        </p:spPr>
      </p:sp>
      <p:sp>
        <p:nvSpPr>
          <p:cNvPr id="10" name="Text 8"/>
          <p:cNvSpPr txBox="1"/>
          <p:nvPr/>
        </p:nvSpPr>
        <p:spPr>
          <a:xfrm>
            <a:off x="6446520" y="3959352"/>
            <a:ext cx="49377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Cómo se prueba</a:t>
            </a:r>
            <a:endParaRPr lang="en-US" sz="1700" dirty="0"/>
          </a:p>
        </p:txBody>
      </p:sp>
      <p:sp>
        <p:nvSpPr>
          <p:cNvPr id="11" name="Text 9"/>
          <p:cNvSpPr txBox="1"/>
          <p:nvPr/>
        </p:nvSpPr>
        <p:spPr>
          <a:xfrm>
            <a:off x="6446520" y="4416552"/>
            <a:ext cx="4937760" cy="1463040"/>
          </a:xfrm>
          <a:prstGeom prst="rect">
            <a:avLst/>
          </a:prstGeom>
          <a:noFill/>
          <a:ln/>
        </p:spPr>
        <p:txBody>
          <a:bodyPr wrap="square" lIns="0" tIns="0" rIns="0" bIns="0" rtlCol="0" anchor="t"/>
          <a:lstStyle/>
          <a:p>
            <a:pPr indent="0" marL="0">
              <a:buNone/>
            </a:pPr>
            <a:r>
              <a:rPr lang="en-US" sz="1400" dirty="0">
                <a:solidFill>
                  <a:schemeClr val="tx1"/>
                </a:solidFill>
              </a:rPr>
              <a:t>Una progresión de cuatro versiones (V2 a V5) con la arquitectura fija, variando el origen, el tamaño y el muestreo de las etiquetas. La comparación clave es V4 (≈10.000 imágenes ruidosas) frente a V5 (216 curadas).</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OBJETIVOS</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Seis objetivos específicos al servicio de la pregunta</a:t>
            </a:r>
            <a:endParaRPr lang="en-US" sz="3200" dirty="0"/>
          </a:p>
        </p:txBody>
      </p:sp>
      <p:sp>
        <p:nvSpPr>
          <p:cNvPr id="4" name="Text 2"/>
          <p:cNvSpPr txBox="1"/>
          <p:nvPr/>
        </p:nvSpPr>
        <p:spPr>
          <a:xfrm>
            <a:off x="548640" y="1600200"/>
            <a:ext cx="11064240" cy="731520"/>
          </a:xfrm>
          <a:prstGeom prst="rect">
            <a:avLst/>
          </a:prstGeom>
          <a:noFill/>
          <a:ln/>
        </p:spPr>
        <p:txBody>
          <a:bodyPr wrap="square" lIns="0" tIns="0" rIns="0" bIns="0" rtlCol="0" anchor="t"/>
          <a:lstStyle/>
          <a:p>
            <a:pPr indent="0" marL="0">
              <a:buNone/>
            </a:pPr>
            <a:r>
              <a:rPr lang="en-US" sz="1600" b="1" dirty="0">
                <a:solidFill>
                  <a:schemeClr val="accent1"/>
                </a:solidFill>
              </a:rPr>
              <a:t>Objetivo general: </a:t>
            </a:r>
            <a:pPr indent="0" marL="0">
              <a:buNone/>
            </a:pPr>
            <a:r>
              <a:rPr lang="en-US" sz="1600" dirty="0">
                <a:solidFill>
                  <a:schemeClr val="tx1"/>
                </a:solidFill>
              </a:rPr>
              <a:t>desarrollar y validar un detector de silo-bolsas sobre Sentinel-2 (RGB) en Marcos Juárez y evaluar cuánto condiciona su desempeño la calidad de la verdad de terreno.</a:t>
            </a:r>
            <a:endParaRPr lang="en-US" sz="1600" dirty="0"/>
          </a:p>
        </p:txBody>
      </p:sp>
      <p:sp>
        <p:nvSpPr>
          <p:cNvPr id="5" name="objetivo"/>
          <p:cNvSpPr/>
          <p:nvPr/>
        </p:nvSpPr>
        <p:spPr>
          <a:xfrm>
            <a:off x="548640" y="2514600"/>
            <a:ext cx="3566160" cy="1600200"/>
          </a:xfrm>
          <a:prstGeom prst="roundRect">
            <a:avLst>
              <a:gd name="adj" fmla="val 6857"/>
            </a:avLst>
          </a:prstGeom>
          <a:solidFill>
            <a:schemeClr val="bg2"/>
          </a:solidFill>
          <a:ln w="12700">
            <a:solidFill>
              <a:schemeClr val="bg2"/>
            </a:solidFill>
            <a:prstDash val="solid"/>
          </a:ln>
        </p:spPr>
      </p:sp>
      <p:sp>
        <p:nvSpPr>
          <p:cNvPr id="6" name="num_obj"/>
          <p:cNvSpPr/>
          <p:nvPr/>
        </p:nvSpPr>
        <p:spPr>
          <a:xfrm>
            <a:off x="749808" y="2715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749808" y="27157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6"/>
          <p:cNvSpPr txBox="1"/>
          <p:nvPr/>
        </p:nvSpPr>
        <p:spPr>
          <a:xfrm>
            <a:off x="1325880" y="2715768"/>
            <a:ext cx="265176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Base de imágenes</a:t>
            </a:r>
            <a:endParaRPr lang="en-US" sz="1600" dirty="0"/>
          </a:p>
        </p:txBody>
      </p:sp>
      <p:sp>
        <p:nvSpPr>
          <p:cNvPr id="9" name="Text 7"/>
          <p:cNvSpPr txBox="1"/>
          <p:nvPr/>
        </p:nvSpPr>
        <p:spPr>
          <a:xfrm>
            <a:off x="749808" y="3291840"/>
            <a:ext cx="3200400" cy="731520"/>
          </a:xfrm>
          <a:prstGeom prst="rect">
            <a:avLst/>
          </a:prstGeom>
          <a:noFill/>
          <a:ln/>
        </p:spPr>
        <p:txBody>
          <a:bodyPr wrap="square" lIns="0" tIns="0" rIns="0" bIns="0" rtlCol="0" anchor="t"/>
          <a:lstStyle/>
          <a:p>
            <a:pPr indent="0" marL="0">
              <a:buNone/>
            </a:pPr>
            <a:r>
              <a:rPr lang="en-US" sz="1350" dirty="0">
                <a:solidFill>
                  <a:schemeClr val="tx1"/>
                </a:solidFill>
              </a:rPr>
              <a:t>Sentinel-2 L2A, jun–ago 2020–2025, preprocesada y teselada con trazabilidad.</a:t>
            </a:r>
            <a:endParaRPr lang="en-US" sz="1350" dirty="0"/>
          </a:p>
        </p:txBody>
      </p:sp>
      <p:sp>
        <p:nvSpPr>
          <p:cNvPr id="10" name="objetivo"/>
          <p:cNvSpPr/>
          <p:nvPr/>
        </p:nvSpPr>
        <p:spPr>
          <a:xfrm>
            <a:off x="4297680" y="2514600"/>
            <a:ext cx="3566160" cy="1600200"/>
          </a:xfrm>
          <a:prstGeom prst="roundRect">
            <a:avLst>
              <a:gd name="adj" fmla="val 6857"/>
            </a:avLst>
          </a:prstGeom>
          <a:solidFill>
            <a:schemeClr val="bg2"/>
          </a:solidFill>
          <a:ln w="12700">
            <a:solidFill>
              <a:schemeClr val="bg2"/>
            </a:solidFill>
            <a:prstDash val="solid"/>
          </a:ln>
        </p:spPr>
      </p:sp>
      <p:sp>
        <p:nvSpPr>
          <p:cNvPr id="11" name="num_obj"/>
          <p:cNvSpPr/>
          <p:nvPr/>
        </p:nvSpPr>
        <p:spPr>
          <a:xfrm>
            <a:off x="4498848" y="2715768"/>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4498848" y="27157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5074920" y="2715768"/>
            <a:ext cx="265176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Etiquetado</a:t>
            </a:r>
            <a:endParaRPr lang="en-US" sz="1600" dirty="0"/>
          </a:p>
        </p:txBody>
      </p:sp>
      <p:sp>
        <p:nvSpPr>
          <p:cNvPr id="14" name="Text 12"/>
          <p:cNvSpPr txBox="1"/>
          <p:nvPr/>
        </p:nvSpPr>
        <p:spPr>
          <a:xfrm>
            <a:off x="4498848" y="3291840"/>
            <a:ext cx="3200400" cy="731520"/>
          </a:xfrm>
          <a:prstGeom prst="rect">
            <a:avLst/>
          </a:prstGeom>
          <a:noFill/>
          <a:ln/>
        </p:spPr>
        <p:txBody>
          <a:bodyPr wrap="square" lIns="0" tIns="0" rIns="0" bIns="0" rtlCol="0" anchor="t"/>
          <a:lstStyle/>
          <a:p>
            <a:pPr indent="0" marL="0">
              <a:buNone/>
            </a:pPr>
            <a:r>
              <a:rPr lang="en-US" sz="1350" dirty="0">
                <a:solidFill>
                  <a:schemeClr val="tx1"/>
                </a:solidFill>
              </a:rPr>
              <a:t>Índice INBNV para generar candidatos y curación manual en QGIS.</a:t>
            </a:r>
            <a:endParaRPr lang="en-US" sz="1350" dirty="0"/>
          </a:p>
        </p:txBody>
      </p:sp>
      <p:sp>
        <p:nvSpPr>
          <p:cNvPr id="15" name="objetivo"/>
          <p:cNvSpPr/>
          <p:nvPr/>
        </p:nvSpPr>
        <p:spPr>
          <a:xfrm>
            <a:off x="8046720" y="2514600"/>
            <a:ext cx="3566160" cy="1600200"/>
          </a:xfrm>
          <a:prstGeom prst="roundRect">
            <a:avLst>
              <a:gd name="adj" fmla="val 6857"/>
            </a:avLst>
          </a:prstGeom>
          <a:solidFill>
            <a:schemeClr val="bg2"/>
          </a:solidFill>
          <a:ln w="12700">
            <a:solidFill>
              <a:schemeClr val="bg2"/>
            </a:solidFill>
            <a:prstDash val="solid"/>
          </a:ln>
        </p:spPr>
      </p:sp>
      <p:sp>
        <p:nvSpPr>
          <p:cNvPr id="16" name="num_obj"/>
          <p:cNvSpPr/>
          <p:nvPr/>
        </p:nvSpPr>
        <p:spPr>
          <a:xfrm>
            <a:off x="8247888" y="2715768"/>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8247888" y="27157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6"/>
          <p:cNvSpPr txBox="1"/>
          <p:nvPr/>
        </p:nvSpPr>
        <p:spPr>
          <a:xfrm>
            <a:off x="8823960" y="2715768"/>
            <a:ext cx="265176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Diseño experimental</a:t>
            </a:r>
            <a:endParaRPr lang="en-US" sz="1600" dirty="0"/>
          </a:p>
        </p:txBody>
      </p:sp>
      <p:sp>
        <p:nvSpPr>
          <p:cNvPr id="19" name="Text 17"/>
          <p:cNvSpPr txBox="1"/>
          <p:nvPr/>
        </p:nvSpPr>
        <p:spPr>
          <a:xfrm>
            <a:off x="8247888" y="3291840"/>
            <a:ext cx="3200400" cy="731520"/>
          </a:xfrm>
          <a:prstGeom prst="rect">
            <a:avLst/>
          </a:prstGeom>
          <a:noFill/>
          <a:ln/>
        </p:spPr>
        <p:txBody>
          <a:bodyPr wrap="square" lIns="0" tIns="0" rIns="0" bIns="0" rtlCol="0" anchor="t"/>
          <a:lstStyle/>
          <a:p>
            <a:pPr indent="0" marL="0">
              <a:buNone/>
            </a:pPr>
            <a:r>
              <a:rPr lang="en-US" sz="1350" dirty="0">
                <a:solidFill>
                  <a:schemeClr val="tx1"/>
                </a:solidFill>
              </a:rPr>
              <a:t>Versiones V2 a V5 con arquitectura fija.</a:t>
            </a:r>
            <a:endParaRPr lang="en-US" sz="1350" dirty="0"/>
          </a:p>
        </p:txBody>
      </p:sp>
      <p:sp>
        <p:nvSpPr>
          <p:cNvPr id="20" name="objetivo"/>
          <p:cNvSpPr/>
          <p:nvPr/>
        </p:nvSpPr>
        <p:spPr>
          <a:xfrm>
            <a:off x="548640" y="4297680"/>
            <a:ext cx="3566160" cy="1600200"/>
          </a:xfrm>
          <a:prstGeom prst="roundRect">
            <a:avLst>
              <a:gd name="adj" fmla="val 6857"/>
            </a:avLst>
          </a:prstGeom>
          <a:solidFill>
            <a:schemeClr val="bg2"/>
          </a:solidFill>
          <a:ln w="12700">
            <a:solidFill>
              <a:schemeClr val="bg2"/>
            </a:solidFill>
            <a:prstDash val="solid"/>
          </a:ln>
        </p:spPr>
      </p:sp>
      <p:sp>
        <p:nvSpPr>
          <p:cNvPr id="21" name="num_obj"/>
          <p:cNvSpPr/>
          <p:nvPr/>
        </p:nvSpPr>
        <p:spPr>
          <a:xfrm>
            <a:off x="749808" y="4498848"/>
            <a:ext cx="457200" cy="457200"/>
          </a:xfrm>
          <a:prstGeom prst="ellipse">
            <a:avLst/>
          </a:prstGeom>
          <a:solidFill>
            <a:schemeClr val="accent1"/>
          </a:solidFill>
          <a:ln w="12700">
            <a:solidFill>
              <a:schemeClr val="accent1"/>
            </a:solidFill>
            <a:prstDash val="solid"/>
          </a:ln>
        </p:spPr>
      </p:sp>
      <p:sp>
        <p:nvSpPr>
          <p:cNvPr id="22" name="Text 20"/>
          <p:cNvSpPr txBox="1"/>
          <p:nvPr/>
        </p:nvSpPr>
        <p:spPr>
          <a:xfrm>
            <a:off x="749808" y="44988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3" name="Text 21"/>
          <p:cNvSpPr txBox="1"/>
          <p:nvPr/>
        </p:nvSpPr>
        <p:spPr>
          <a:xfrm>
            <a:off x="1325880" y="4498848"/>
            <a:ext cx="265176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Modelo</a:t>
            </a:r>
            <a:endParaRPr lang="en-US" sz="1600" dirty="0"/>
          </a:p>
        </p:txBody>
      </p:sp>
      <p:sp>
        <p:nvSpPr>
          <p:cNvPr id="24" name="Text 22"/>
          <p:cNvSpPr txBox="1"/>
          <p:nvPr/>
        </p:nvSpPr>
        <p:spPr>
          <a:xfrm>
            <a:off x="749808" y="5074920"/>
            <a:ext cx="3200400" cy="731520"/>
          </a:xfrm>
          <a:prstGeom prst="rect">
            <a:avLst/>
          </a:prstGeom>
          <a:noFill/>
          <a:ln/>
        </p:spPr>
        <p:txBody>
          <a:bodyPr wrap="square" lIns="0" tIns="0" rIns="0" bIns="0" rtlCol="0" anchor="t"/>
          <a:lstStyle/>
          <a:p>
            <a:pPr indent="0" marL="0">
              <a:buNone/>
            </a:pPr>
            <a:r>
              <a:rPr lang="en-US" sz="1350" dirty="0">
                <a:solidFill>
                  <a:schemeClr val="tx1"/>
                </a:solidFill>
              </a:rPr>
              <a:t>Faster R-CNN ResNet50-FPN con anclas adaptadas, entrenado en CPU.</a:t>
            </a:r>
            <a:endParaRPr lang="en-US" sz="1350" dirty="0"/>
          </a:p>
        </p:txBody>
      </p:sp>
      <p:sp>
        <p:nvSpPr>
          <p:cNvPr id="25" name="objetivo"/>
          <p:cNvSpPr/>
          <p:nvPr/>
        </p:nvSpPr>
        <p:spPr>
          <a:xfrm>
            <a:off x="4297680" y="4297680"/>
            <a:ext cx="3566160" cy="1600200"/>
          </a:xfrm>
          <a:prstGeom prst="roundRect">
            <a:avLst>
              <a:gd name="adj" fmla="val 6857"/>
            </a:avLst>
          </a:prstGeom>
          <a:solidFill>
            <a:schemeClr val="bg2"/>
          </a:solidFill>
          <a:ln w="12700">
            <a:solidFill>
              <a:schemeClr val="bg2"/>
            </a:solidFill>
            <a:prstDash val="solid"/>
          </a:ln>
        </p:spPr>
      </p:sp>
      <p:sp>
        <p:nvSpPr>
          <p:cNvPr id="26" name="num_obj"/>
          <p:cNvSpPr/>
          <p:nvPr/>
        </p:nvSpPr>
        <p:spPr>
          <a:xfrm>
            <a:off x="4498848" y="4498848"/>
            <a:ext cx="457200" cy="457200"/>
          </a:xfrm>
          <a:prstGeom prst="ellipse">
            <a:avLst/>
          </a:prstGeom>
          <a:solidFill>
            <a:schemeClr val="accent1"/>
          </a:solidFill>
          <a:ln w="12700">
            <a:solidFill>
              <a:schemeClr val="accent1"/>
            </a:solidFill>
            <a:prstDash val="solid"/>
          </a:ln>
        </p:spPr>
      </p:sp>
      <p:sp>
        <p:nvSpPr>
          <p:cNvPr id="27" name="Text 25"/>
          <p:cNvSpPr txBox="1"/>
          <p:nvPr/>
        </p:nvSpPr>
        <p:spPr>
          <a:xfrm>
            <a:off x="4498848" y="44988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8" name="Text 26"/>
          <p:cNvSpPr txBox="1"/>
          <p:nvPr/>
        </p:nvSpPr>
        <p:spPr>
          <a:xfrm>
            <a:off x="5074920" y="4498848"/>
            <a:ext cx="265176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Evaluación</a:t>
            </a:r>
            <a:endParaRPr lang="en-US" sz="1600" dirty="0"/>
          </a:p>
        </p:txBody>
      </p:sp>
      <p:sp>
        <p:nvSpPr>
          <p:cNvPr id="29" name="Text 27"/>
          <p:cNvSpPr txBox="1"/>
          <p:nvPr/>
        </p:nvSpPr>
        <p:spPr>
          <a:xfrm>
            <a:off x="4498848" y="5074920"/>
            <a:ext cx="3200400" cy="731520"/>
          </a:xfrm>
          <a:prstGeom prst="rect">
            <a:avLst/>
          </a:prstGeom>
          <a:noFill/>
          <a:ln/>
        </p:spPr>
        <p:txBody>
          <a:bodyPr wrap="square" lIns="0" tIns="0" rIns="0" bIns="0" rtlCol="0" anchor="t"/>
          <a:lstStyle/>
          <a:p>
            <a:pPr indent="0" marL="0">
              <a:buNone/>
            </a:pPr>
            <a:r>
              <a:rPr lang="en-US" sz="1350" dirty="0">
                <a:solidFill>
                  <a:schemeClr val="tx1"/>
                </a:solidFill>
              </a:rPr>
              <a:t>Precisión, recall, F1 y AP sobre un test curado e independiente.</a:t>
            </a:r>
            <a:endParaRPr lang="en-US" sz="1350" dirty="0"/>
          </a:p>
        </p:txBody>
      </p:sp>
      <p:sp>
        <p:nvSpPr>
          <p:cNvPr id="30" name="objetivo"/>
          <p:cNvSpPr/>
          <p:nvPr/>
        </p:nvSpPr>
        <p:spPr>
          <a:xfrm>
            <a:off x="8046720" y="4297680"/>
            <a:ext cx="3566160" cy="1600200"/>
          </a:xfrm>
          <a:prstGeom prst="roundRect">
            <a:avLst>
              <a:gd name="adj" fmla="val 6857"/>
            </a:avLst>
          </a:prstGeom>
          <a:solidFill>
            <a:schemeClr val="bg2"/>
          </a:solidFill>
          <a:ln w="12700">
            <a:solidFill>
              <a:schemeClr val="bg2"/>
            </a:solidFill>
            <a:prstDash val="solid"/>
          </a:ln>
        </p:spPr>
      </p:sp>
      <p:sp>
        <p:nvSpPr>
          <p:cNvPr id="31" name="num_obj"/>
          <p:cNvSpPr/>
          <p:nvPr/>
        </p:nvSpPr>
        <p:spPr>
          <a:xfrm>
            <a:off x="8247888" y="4498848"/>
            <a:ext cx="457200" cy="457200"/>
          </a:xfrm>
          <a:prstGeom prst="ellipse">
            <a:avLst/>
          </a:prstGeom>
          <a:solidFill>
            <a:schemeClr val="accent1"/>
          </a:solidFill>
          <a:ln w="12700">
            <a:solidFill>
              <a:schemeClr val="accent1"/>
            </a:solidFill>
            <a:prstDash val="solid"/>
          </a:ln>
        </p:spPr>
      </p:sp>
      <p:sp>
        <p:nvSpPr>
          <p:cNvPr id="32" name="Text 30"/>
          <p:cNvSpPr txBox="1"/>
          <p:nvPr/>
        </p:nvSpPr>
        <p:spPr>
          <a:xfrm>
            <a:off x="8247888" y="44988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3" name="Text 31"/>
          <p:cNvSpPr txBox="1"/>
          <p:nvPr/>
        </p:nvSpPr>
        <p:spPr>
          <a:xfrm>
            <a:off x="8823960" y="4498848"/>
            <a:ext cx="265176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Validación temporal</a:t>
            </a:r>
            <a:endParaRPr lang="en-US" sz="1600" dirty="0"/>
          </a:p>
        </p:txBody>
      </p:sp>
      <p:sp>
        <p:nvSpPr>
          <p:cNvPr id="34" name="Text 32"/>
          <p:cNvSpPr txBox="1"/>
          <p:nvPr/>
        </p:nvSpPr>
        <p:spPr>
          <a:xfrm>
            <a:off x="8247888" y="5074920"/>
            <a:ext cx="3200400" cy="731520"/>
          </a:xfrm>
          <a:prstGeom prst="rect">
            <a:avLst/>
          </a:prstGeom>
          <a:noFill/>
          <a:ln/>
        </p:spPr>
        <p:txBody>
          <a:bodyPr wrap="square" lIns="0" tIns="0" rIns="0" bIns="0" rtlCol="0" anchor="t"/>
          <a:lstStyle/>
          <a:p>
            <a:pPr indent="0" marL="0">
              <a:buNone/>
            </a:pPr>
            <a:r>
              <a:rPr lang="en-US" sz="1350" dirty="0">
                <a:solidFill>
                  <a:schemeClr val="tx1"/>
                </a:solidFill>
              </a:rPr>
              <a:t>Evaluación sobre un año no visto: 2026.</a:t>
            </a:r>
            <a:endParaRPr lang="en-US" sz="135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822960" y="146304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02</a:t>
            </a:r>
            <a:endParaRPr lang="en-US" sz="9600" dirty="0"/>
          </a:p>
        </p:txBody>
      </p:sp>
      <p:sp>
        <p:nvSpPr>
          <p:cNvPr id="3" name="Text 0"/>
          <p:cNvSpPr/>
          <p:nvPr>
            <p:ph idx="102" type="title" hasCustomPrompt="1"/>
          </p:nvPr>
        </p:nvSpPr>
        <p:spPr>
          <a:xfrm>
            <a:off x="822960" y="3063240"/>
            <a:ext cx="10515600" cy="11887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Datos y método</a:t>
            </a:r>
            <a:endParaRPr lang="en-US" sz="4000" dirty="0"/>
          </a:p>
        </p:txBody>
      </p:sp>
      <p:sp>
        <p:nvSpPr>
          <p:cNvPr id="4" name="Text 0"/>
          <p:cNvSpPr/>
          <p:nvPr>
            <p:ph idx="103" type="body" hasCustomPrompt="1"/>
          </p:nvPr>
        </p:nvSpPr>
        <p:spPr>
          <a:xfrm>
            <a:off x="822960" y="4297680"/>
            <a:ext cx="10058400" cy="109728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Del satélite a la verdad de terreno curada</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ÁREA Y VENTANA DE ESTUDIO</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Marcos Juárez, en el corazón de la zona núcleo</a:t>
            </a:r>
            <a:endParaRPr lang="en-US" sz="3200" dirty="0"/>
          </a:p>
        </p:txBody>
      </p:sp>
      <p:pic>
        <p:nvPicPr>
          <p:cNvPr id="4" name="fig_3_3" descr="/home/claude/ppt/ims/fig_3_3.jpg">    </p:cNvPr>
          <p:cNvPicPr>
            <a:picLocks noChangeAspect="1"/>
          </p:cNvPicPr>
          <p:nvPr/>
        </p:nvPicPr>
        <p:blipFill>
          <a:blip r:embed="rId1"/>
          <a:stretch>
            <a:fillRect/>
          </a:stretch>
        </p:blipFill>
        <p:spPr>
          <a:xfrm>
            <a:off x="548640" y="1720376"/>
            <a:ext cx="4297680" cy="4240207"/>
          </a:xfrm>
          <a:prstGeom prst="rect">
            <a:avLst/>
          </a:prstGeom>
        </p:spPr>
      </p:pic>
      <p:pic>
        <p:nvPicPr>
          <p:cNvPr id="5" name="fig_3_2" descr="/home/claude/ppt/ims/fig_3_2.jpg">    </p:cNvPr>
          <p:cNvPicPr>
            <a:picLocks noChangeAspect="1"/>
          </p:cNvPicPr>
          <p:nvPr/>
        </p:nvPicPr>
        <p:blipFill>
          <a:blip r:embed="rId2"/>
          <a:stretch>
            <a:fillRect/>
          </a:stretch>
        </p:blipFill>
        <p:spPr>
          <a:xfrm>
            <a:off x="5120640" y="1593465"/>
            <a:ext cx="6492240" cy="2619510"/>
          </a:xfrm>
          <a:prstGeom prst="rect">
            <a:avLst/>
          </a:prstGeom>
        </p:spPr>
      </p:pic>
      <p:sp>
        <p:nvSpPr>
          <p:cNvPr id="6" name="Text 2"/>
          <p:cNvSpPr txBox="1"/>
          <p:nvPr/>
        </p:nvSpPr>
        <p:spPr>
          <a:xfrm>
            <a:off x="5303520" y="4343400"/>
            <a:ext cx="2011680" cy="86868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3</a:t>
            </a:r>
            <a:endParaRPr lang="en-US" sz="3400" dirty="0"/>
          </a:p>
        </p:txBody>
      </p:sp>
      <p:sp>
        <p:nvSpPr>
          <p:cNvPr id="7" name="Text 3"/>
          <p:cNvSpPr txBox="1"/>
          <p:nvPr/>
        </p:nvSpPr>
        <p:spPr>
          <a:xfrm>
            <a:off x="5303520" y="5257800"/>
            <a:ext cx="2011680" cy="685800"/>
          </a:xfrm>
          <a:prstGeom prst="rect">
            <a:avLst/>
          </a:prstGeom>
          <a:noFill/>
          <a:ln/>
        </p:spPr>
        <p:txBody>
          <a:bodyPr wrap="square" lIns="0" tIns="0" rIns="0" bIns="0" rtlCol="0" anchor="t"/>
          <a:lstStyle/>
          <a:p>
            <a:pPr indent="0" marL="0">
              <a:buNone/>
            </a:pPr>
            <a:r>
              <a:rPr lang="en-US" sz="1400" dirty="0">
                <a:solidFill>
                  <a:schemeClr val="accent3"/>
                </a:solidFill>
              </a:rPr>
              <a:t>teselas MGRS (20HNH, 20HNJ, 20HNK)</a:t>
            </a:r>
            <a:endParaRPr lang="en-US" sz="1400" dirty="0"/>
          </a:p>
        </p:txBody>
      </p:sp>
      <p:sp>
        <p:nvSpPr>
          <p:cNvPr id="8" name="Text 4"/>
          <p:cNvSpPr txBox="1"/>
          <p:nvPr/>
        </p:nvSpPr>
        <p:spPr>
          <a:xfrm>
            <a:off x="7452360" y="4343400"/>
            <a:ext cx="2011680" cy="86868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jun–ago</a:t>
            </a:r>
            <a:endParaRPr lang="en-US" sz="3400" dirty="0"/>
          </a:p>
        </p:txBody>
      </p:sp>
      <p:sp>
        <p:nvSpPr>
          <p:cNvPr id="9" name="Text 5"/>
          <p:cNvSpPr txBox="1"/>
          <p:nvPr/>
        </p:nvSpPr>
        <p:spPr>
          <a:xfrm>
            <a:off x="7452360" y="5257800"/>
            <a:ext cx="2011680" cy="685800"/>
          </a:xfrm>
          <a:prstGeom prst="rect">
            <a:avLst/>
          </a:prstGeom>
          <a:noFill/>
          <a:ln/>
        </p:spPr>
        <p:txBody>
          <a:bodyPr wrap="square" lIns="0" tIns="0" rIns="0" bIns="0" rtlCol="0" anchor="t"/>
          <a:lstStyle/>
          <a:p>
            <a:pPr indent="0" marL="0">
              <a:buNone/>
            </a:pPr>
            <a:r>
              <a:rPr lang="en-US" sz="1400" dirty="0">
                <a:solidFill>
                  <a:schemeClr val="accent3"/>
                </a:solidFill>
              </a:rPr>
              <a:t>2020 a 2025: barbecho invernal</a:t>
            </a:r>
            <a:endParaRPr lang="en-US" sz="1400" dirty="0"/>
          </a:p>
        </p:txBody>
      </p:sp>
      <p:sp>
        <p:nvSpPr>
          <p:cNvPr id="10" name="Text 6"/>
          <p:cNvSpPr txBox="1"/>
          <p:nvPr/>
        </p:nvSpPr>
        <p:spPr>
          <a:xfrm>
            <a:off x="9601200" y="4343400"/>
            <a:ext cx="2011680" cy="86868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25.749</a:t>
            </a:r>
            <a:endParaRPr lang="en-US" sz="3400" dirty="0"/>
          </a:p>
        </p:txBody>
      </p:sp>
      <p:sp>
        <p:nvSpPr>
          <p:cNvPr id="11" name="Text 7"/>
          <p:cNvSpPr txBox="1"/>
          <p:nvPr/>
        </p:nvSpPr>
        <p:spPr>
          <a:xfrm>
            <a:off x="9601200" y="5257800"/>
            <a:ext cx="2011680" cy="685800"/>
          </a:xfrm>
          <a:prstGeom prst="rect">
            <a:avLst/>
          </a:prstGeom>
          <a:noFill/>
          <a:ln/>
        </p:spPr>
        <p:txBody>
          <a:bodyPr wrap="square" lIns="0" tIns="0" rIns="0" bIns="0" rtlCol="0" anchor="t"/>
          <a:lstStyle/>
          <a:p>
            <a:pPr indent="0" marL="0">
              <a:buNone/>
            </a:pPr>
            <a:r>
              <a:rPr lang="en-US" sz="1400" dirty="0">
                <a:solidFill>
                  <a:schemeClr val="accent3"/>
                </a:solidFill>
              </a:rPr>
              <a:t>teselas de 1024 × 1024 px procesadas</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PIPELINE</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Un pipeline modular, reproducible y reanudable</a:t>
            </a:r>
            <a:endParaRPr lang="en-US" sz="3200" dirty="0"/>
          </a:p>
        </p:txBody>
      </p:sp>
      <p:pic>
        <p:nvPicPr>
          <p:cNvPr id="4" name="fig_3_5" descr="/home/claude/ppt/ims/fig_3_5.jpg">    </p:cNvPr>
          <p:cNvPicPr>
            <a:picLocks noChangeAspect="1"/>
          </p:cNvPicPr>
          <p:nvPr/>
        </p:nvPicPr>
        <p:blipFill>
          <a:blip r:embed="rId1"/>
          <a:stretch>
            <a:fillRect/>
          </a:stretch>
        </p:blipFill>
        <p:spPr>
          <a:xfrm>
            <a:off x="2300630" y="1554480"/>
            <a:ext cx="7560259" cy="3566160"/>
          </a:xfrm>
          <a:prstGeom prst="rect">
            <a:avLst/>
          </a:prstGeom>
        </p:spPr>
      </p:pic>
      <p:sp>
        <p:nvSpPr>
          <p:cNvPr id="5" name="paso"/>
          <p:cNvSpPr/>
          <p:nvPr/>
        </p:nvSpPr>
        <p:spPr>
          <a:xfrm>
            <a:off x="548640" y="5349240"/>
            <a:ext cx="2057400" cy="731520"/>
          </a:xfrm>
          <a:prstGeom prst="roundRect">
            <a:avLst>
              <a:gd name="adj" fmla="val 12500"/>
            </a:avLst>
          </a:prstGeom>
          <a:solidFill>
            <a:schemeClr val="bg2"/>
          </a:solidFill>
          <a:ln w="12700">
            <a:solidFill>
              <a:schemeClr val="bg2"/>
            </a:solidFill>
            <a:prstDash val="solid"/>
          </a:ln>
        </p:spPr>
      </p:sp>
      <p:sp>
        <p:nvSpPr>
          <p:cNvPr id="6" name="Text 3"/>
          <p:cNvSpPr txBox="1"/>
          <p:nvPr/>
        </p:nvSpPr>
        <p:spPr>
          <a:xfrm>
            <a:off x="658368" y="5349240"/>
            <a:ext cx="1874520" cy="731520"/>
          </a:xfrm>
          <a:prstGeom prst="rect">
            <a:avLst/>
          </a:prstGeom>
          <a:noFill/>
          <a:ln/>
        </p:spPr>
        <p:txBody>
          <a:bodyPr wrap="square" lIns="0" tIns="0" rIns="0" bIns="0" rtlCol="0" anchor="ctr"/>
          <a:lstStyle/>
          <a:p>
            <a:pPr indent="0" marL="0">
              <a:buNone/>
            </a:pPr>
            <a:r>
              <a:rPr lang="en-US" sz="1300" b="1" dirty="0">
                <a:solidFill>
                  <a:schemeClr val="accent2"/>
                </a:solidFill>
              </a:rPr>
              <a:t>1  </a:t>
            </a:r>
            <a:pPr indent="0" marL="0">
              <a:buNone/>
            </a:pPr>
            <a:r>
              <a:rPr lang="en-US" sz="1300" dirty="0">
                <a:solidFill>
                  <a:schemeClr val="tx2"/>
                </a:solidFill>
              </a:rPr>
              <a:t>Descarga L2A (AWS)</a:t>
            </a:r>
            <a:endParaRPr lang="en-US" sz="1300" dirty="0"/>
          </a:p>
        </p:txBody>
      </p:sp>
      <p:sp>
        <p:nvSpPr>
          <p:cNvPr id="7" name="paso"/>
          <p:cNvSpPr/>
          <p:nvPr/>
        </p:nvSpPr>
        <p:spPr>
          <a:xfrm>
            <a:off x="2788920" y="5349240"/>
            <a:ext cx="2057400" cy="731520"/>
          </a:xfrm>
          <a:prstGeom prst="roundRect">
            <a:avLst>
              <a:gd name="adj" fmla="val 12500"/>
            </a:avLst>
          </a:prstGeom>
          <a:solidFill>
            <a:schemeClr val="bg2"/>
          </a:solidFill>
          <a:ln w="12700">
            <a:solidFill>
              <a:schemeClr val="bg2"/>
            </a:solidFill>
            <a:prstDash val="solid"/>
          </a:ln>
        </p:spPr>
      </p:sp>
      <p:sp>
        <p:nvSpPr>
          <p:cNvPr id="8" name="Text 5"/>
          <p:cNvSpPr txBox="1"/>
          <p:nvPr/>
        </p:nvSpPr>
        <p:spPr>
          <a:xfrm>
            <a:off x="2898648" y="5349240"/>
            <a:ext cx="1874520" cy="731520"/>
          </a:xfrm>
          <a:prstGeom prst="rect">
            <a:avLst/>
          </a:prstGeom>
          <a:noFill/>
          <a:ln/>
        </p:spPr>
        <p:txBody>
          <a:bodyPr wrap="square" lIns="0" tIns="0" rIns="0" bIns="0" rtlCol="0" anchor="ctr"/>
          <a:lstStyle/>
          <a:p>
            <a:pPr indent="0" marL="0">
              <a:buNone/>
            </a:pPr>
            <a:r>
              <a:rPr lang="en-US" sz="1300" b="1" dirty="0">
                <a:solidFill>
                  <a:schemeClr val="accent2"/>
                </a:solidFill>
              </a:rPr>
              <a:t>2  </a:t>
            </a:r>
            <a:pPr indent="0" marL="0">
              <a:buNone/>
            </a:pPr>
            <a:r>
              <a:rPr lang="en-US" sz="1300" dirty="0">
                <a:solidFill>
                  <a:schemeClr val="tx2"/>
                </a:solidFill>
              </a:rPr>
              <a:t>Composición y máscara de nubes (SCL)</a:t>
            </a:r>
            <a:endParaRPr lang="en-US" sz="1300" dirty="0"/>
          </a:p>
        </p:txBody>
      </p:sp>
      <p:sp>
        <p:nvSpPr>
          <p:cNvPr id="9" name="paso"/>
          <p:cNvSpPr/>
          <p:nvPr/>
        </p:nvSpPr>
        <p:spPr>
          <a:xfrm>
            <a:off x="5029200" y="5349240"/>
            <a:ext cx="2057400" cy="731520"/>
          </a:xfrm>
          <a:prstGeom prst="roundRect">
            <a:avLst>
              <a:gd name="adj" fmla="val 12500"/>
            </a:avLst>
          </a:prstGeom>
          <a:solidFill>
            <a:schemeClr val="bg2"/>
          </a:solidFill>
          <a:ln w="12700">
            <a:solidFill>
              <a:schemeClr val="bg2"/>
            </a:solidFill>
            <a:prstDash val="solid"/>
          </a:ln>
        </p:spPr>
      </p:sp>
      <p:sp>
        <p:nvSpPr>
          <p:cNvPr id="10" name="Text 7"/>
          <p:cNvSpPr txBox="1"/>
          <p:nvPr/>
        </p:nvSpPr>
        <p:spPr>
          <a:xfrm>
            <a:off x="5138928" y="5349240"/>
            <a:ext cx="1874520" cy="731520"/>
          </a:xfrm>
          <a:prstGeom prst="rect">
            <a:avLst/>
          </a:prstGeom>
          <a:noFill/>
          <a:ln/>
        </p:spPr>
        <p:txBody>
          <a:bodyPr wrap="square" lIns="0" tIns="0" rIns="0" bIns="0" rtlCol="0" anchor="ctr"/>
          <a:lstStyle/>
          <a:p>
            <a:pPr indent="0" marL="0">
              <a:buNone/>
            </a:pPr>
            <a:r>
              <a:rPr lang="en-US" sz="1300" b="1" dirty="0">
                <a:solidFill>
                  <a:schemeClr val="accent2"/>
                </a:solidFill>
              </a:rPr>
              <a:t>3  </a:t>
            </a:r>
            <a:pPr indent="0" marL="0">
              <a:buNone/>
            </a:pPr>
            <a:r>
              <a:rPr lang="en-US" sz="1300" dirty="0">
                <a:solidFill>
                  <a:schemeClr val="tx2"/>
                </a:solidFill>
              </a:rPr>
              <a:t>Mosaico por fecha</a:t>
            </a:r>
            <a:endParaRPr lang="en-US" sz="1300" dirty="0"/>
          </a:p>
        </p:txBody>
      </p:sp>
      <p:sp>
        <p:nvSpPr>
          <p:cNvPr id="11" name="paso"/>
          <p:cNvSpPr/>
          <p:nvPr/>
        </p:nvSpPr>
        <p:spPr>
          <a:xfrm>
            <a:off x="7269480" y="5349240"/>
            <a:ext cx="2057400" cy="731520"/>
          </a:xfrm>
          <a:prstGeom prst="roundRect">
            <a:avLst>
              <a:gd name="adj" fmla="val 12500"/>
            </a:avLst>
          </a:prstGeom>
          <a:solidFill>
            <a:schemeClr val="bg2"/>
          </a:solidFill>
          <a:ln w="12700">
            <a:solidFill>
              <a:schemeClr val="bg2"/>
            </a:solidFill>
            <a:prstDash val="solid"/>
          </a:ln>
        </p:spPr>
      </p:sp>
      <p:sp>
        <p:nvSpPr>
          <p:cNvPr id="12" name="Text 9"/>
          <p:cNvSpPr txBox="1"/>
          <p:nvPr/>
        </p:nvSpPr>
        <p:spPr>
          <a:xfrm>
            <a:off x="7379208" y="5349240"/>
            <a:ext cx="1874520" cy="731520"/>
          </a:xfrm>
          <a:prstGeom prst="rect">
            <a:avLst/>
          </a:prstGeom>
          <a:noFill/>
          <a:ln/>
        </p:spPr>
        <p:txBody>
          <a:bodyPr wrap="square" lIns="0" tIns="0" rIns="0" bIns="0" rtlCol="0" anchor="ctr"/>
          <a:lstStyle/>
          <a:p>
            <a:pPr indent="0" marL="0">
              <a:buNone/>
            </a:pPr>
            <a:r>
              <a:rPr lang="en-US" sz="1300" b="1" dirty="0">
                <a:solidFill>
                  <a:schemeClr val="accent2"/>
                </a:solidFill>
              </a:rPr>
              <a:t>4  </a:t>
            </a:r>
            <a:pPr indent="0" marL="0">
              <a:buNone/>
            </a:pPr>
            <a:r>
              <a:rPr lang="en-US" sz="1300" dirty="0">
                <a:solidFill>
                  <a:schemeClr val="tx2"/>
                </a:solidFill>
              </a:rPr>
              <a:t>Recorte a la zona rural</a:t>
            </a:r>
            <a:endParaRPr lang="en-US" sz="1300" dirty="0"/>
          </a:p>
        </p:txBody>
      </p:sp>
      <p:sp>
        <p:nvSpPr>
          <p:cNvPr id="13" name="paso"/>
          <p:cNvSpPr/>
          <p:nvPr/>
        </p:nvSpPr>
        <p:spPr>
          <a:xfrm>
            <a:off x="9509760" y="5349240"/>
            <a:ext cx="2057400" cy="731520"/>
          </a:xfrm>
          <a:prstGeom prst="roundRect">
            <a:avLst>
              <a:gd name="adj" fmla="val 12500"/>
            </a:avLst>
          </a:prstGeom>
          <a:solidFill>
            <a:schemeClr val="bg2"/>
          </a:solidFill>
          <a:ln w="12700">
            <a:solidFill>
              <a:schemeClr val="bg2"/>
            </a:solidFill>
            <a:prstDash val="solid"/>
          </a:ln>
        </p:spPr>
      </p:sp>
      <p:sp>
        <p:nvSpPr>
          <p:cNvPr id="14" name="Text 11"/>
          <p:cNvSpPr txBox="1"/>
          <p:nvPr/>
        </p:nvSpPr>
        <p:spPr>
          <a:xfrm>
            <a:off x="9619488" y="5349240"/>
            <a:ext cx="1874520" cy="731520"/>
          </a:xfrm>
          <a:prstGeom prst="rect">
            <a:avLst/>
          </a:prstGeom>
          <a:noFill/>
          <a:ln/>
        </p:spPr>
        <p:txBody>
          <a:bodyPr wrap="square" lIns="0" tIns="0" rIns="0" bIns="0" rtlCol="0" anchor="ctr"/>
          <a:lstStyle/>
          <a:p>
            <a:pPr indent="0" marL="0">
              <a:buNone/>
            </a:pPr>
            <a:r>
              <a:rPr lang="en-US" sz="1300" b="1" dirty="0">
                <a:solidFill>
                  <a:schemeClr val="accent2"/>
                </a:solidFill>
              </a:rPr>
              <a:t>5  </a:t>
            </a:r>
            <a:pPr indent="0" marL="0">
              <a:buNone/>
            </a:pPr>
            <a:r>
              <a:rPr lang="en-US" sz="1300" dirty="0">
                <a:solidFill>
                  <a:schemeClr val="tx2"/>
                </a:solidFill>
              </a:rPr>
              <a:t>Teselado con 20 % de solapamiento</a:t>
            </a:r>
            <a:endParaRPr lang="en-US" sz="13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GENERACIÓN DE CANDIDATOS</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INBNV: un índice propio para generar candidatos</a:t>
            </a:r>
            <a:endParaRPr lang="en-US" sz="3200" dirty="0"/>
          </a:p>
        </p:txBody>
      </p:sp>
      <p:sp>
        <p:nvSpPr>
          <p:cNvPr id="4" name="formula"/>
          <p:cNvSpPr/>
          <p:nvPr/>
        </p:nvSpPr>
        <p:spPr>
          <a:xfrm>
            <a:off x="548640" y="1645920"/>
            <a:ext cx="4846320" cy="1143000"/>
          </a:xfrm>
          <a:prstGeom prst="roundRect">
            <a:avLst>
              <a:gd name="adj" fmla="val 9600"/>
            </a:avLst>
          </a:prstGeom>
          <a:solidFill>
            <a:schemeClr val="tx2"/>
          </a:solidFill>
          <a:ln w="12700">
            <a:solidFill>
              <a:schemeClr val="tx2"/>
            </a:solidFill>
            <a:prstDash val="solid"/>
          </a:ln>
        </p:spPr>
      </p:sp>
      <p:sp>
        <p:nvSpPr>
          <p:cNvPr id="5" name="Text 3"/>
          <p:cNvSpPr txBox="1"/>
          <p:nvPr/>
        </p:nvSpPr>
        <p:spPr>
          <a:xfrm>
            <a:off x="685800" y="1645920"/>
            <a:ext cx="4572000" cy="1143000"/>
          </a:xfrm>
          <a:prstGeom prst="rect">
            <a:avLst/>
          </a:prstGeom>
          <a:noFill/>
          <a:ln/>
        </p:spPr>
        <p:txBody>
          <a:bodyPr wrap="square" lIns="0" tIns="0" rIns="0" bIns="0" rtlCol="0" anchor="ctr"/>
          <a:lstStyle/>
          <a:p>
            <a:pPr algn="ctr" indent="0" marL="0">
              <a:buNone/>
            </a:pPr>
            <a:r>
              <a:rPr lang="en-US" sz="1800" i="1" dirty="0">
                <a:solidFill>
                  <a:schemeClr val="bg1"/>
                </a:solidFill>
                <a:latin typeface="Cambria" pitchFamily="34" charset="0"/>
                <a:ea typeface="Cambria" pitchFamily="34" charset="-122"/>
                <a:cs typeface="Cambria" pitchFamily="34" charset="-120"/>
              </a:rPr>
              <a:t>INBNV = ((Verde + Rojo) − NIR) / ((Verde + Rojo) + NIR)</a:t>
            </a:r>
            <a:endParaRPr lang="en-US" sz="1800" dirty="0"/>
          </a:p>
        </p:txBody>
      </p:sp>
      <p:sp>
        <p:nvSpPr>
          <p:cNvPr id="6" name="Text 4"/>
          <p:cNvSpPr txBox="1"/>
          <p:nvPr/>
        </p:nvSpPr>
        <p:spPr>
          <a:xfrm>
            <a:off x="548640" y="3017520"/>
            <a:ext cx="4846320" cy="18288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El polietileno blanco refleja mucho en el visible y poco en el NIR: valores altos del índice.</a:t>
            </a:r>
            <a:endParaRPr lang="en-US" sz="1500" dirty="0"/>
          </a:p>
          <a:p>
            <a:pPr marL="203200" indent="-203200">
              <a:spcAft>
                <a:spcPts val="800"/>
              </a:spcAft>
              <a:buSzPct val="100000"/>
              <a:buChar char="•"/>
            </a:pPr>
            <a:r>
              <a:rPr lang="en-US" sz="1500" dirty="0">
                <a:solidFill>
                  <a:schemeClr val="tx1"/>
                </a:solidFill>
              </a:rPr>
              <a:t>Umbral adaptativo por tesela: se conserva el 0,2 % más brillante (percentil 99,8).</a:t>
            </a:r>
            <a:endParaRPr lang="en-US" sz="1500" dirty="0"/>
          </a:p>
          <a:p>
            <a:pPr marL="203200" indent="-203200">
              <a:spcAft>
                <a:spcPts val="800"/>
              </a:spcAft>
              <a:buSzPct val="100000"/>
              <a:buChar char="•"/>
            </a:pPr>
            <a:r>
              <a:rPr lang="en-US" sz="1500" dirty="0">
                <a:solidFill>
                  <a:schemeClr val="tx1"/>
                </a:solidFill>
              </a:rPr>
              <a:t>Se usa como generador de candidatos, no como clasificador.</a:t>
            </a:r>
            <a:endParaRPr lang="en-US" sz="1500" dirty="0"/>
          </a:p>
        </p:txBody>
      </p:sp>
      <p:sp>
        <p:nvSpPr>
          <p:cNvPr id="7" name="Text 5"/>
          <p:cNvSpPr txBox="1"/>
          <p:nvPr/>
        </p:nvSpPr>
        <p:spPr>
          <a:xfrm>
            <a:off x="548640" y="4709160"/>
            <a:ext cx="2377440" cy="868680"/>
          </a:xfrm>
          <a:prstGeom prst="rect">
            <a:avLst/>
          </a:prstGeom>
          <a:noFill/>
          <a:ln/>
        </p:spPr>
        <p:txBody>
          <a:bodyPr wrap="square" lIns="0" tIns="0" rIns="0" bIns="0" rtlCol="0" anchor="b"/>
          <a:lstStyle/>
          <a:p>
            <a:pPr indent="0" marL="0">
              <a:buNone/>
            </a:pPr>
            <a:r>
              <a:rPr lang="en-US" sz="3600" b="1" dirty="0">
                <a:solidFill>
                  <a:schemeClr val="accent6"/>
                </a:solidFill>
                <a:latin typeface="Cambria" pitchFamily="34" charset="0"/>
                <a:ea typeface="Cambria" pitchFamily="34" charset="-122"/>
                <a:cs typeface="Cambria" pitchFamily="34" charset="-120"/>
              </a:rPr>
              <a:t>60 %</a:t>
            </a:r>
            <a:endParaRPr lang="en-US" sz="3600" dirty="0"/>
          </a:p>
        </p:txBody>
      </p:sp>
      <p:sp>
        <p:nvSpPr>
          <p:cNvPr id="8" name="Text 6"/>
          <p:cNvSpPr txBox="1"/>
          <p:nvPr/>
        </p:nvSpPr>
        <p:spPr>
          <a:xfrm>
            <a:off x="548640" y="5623560"/>
            <a:ext cx="2377440" cy="685800"/>
          </a:xfrm>
          <a:prstGeom prst="rect">
            <a:avLst/>
          </a:prstGeom>
          <a:noFill/>
          <a:ln/>
        </p:spPr>
        <p:txBody>
          <a:bodyPr wrap="square" lIns="0" tIns="0" rIns="0" bIns="0" rtlCol="0" anchor="t"/>
          <a:lstStyle/>
          <a:p>
            <a:pPr indent="0" marL="0">
              <a:buNone/>
            </a:pPr>
            <a:r>
              <a:rPr lang="en-US" sz="1400" dirty="0">
                <a:solidFill>
                  <a:schemeClr val="accent3"/>
                </a:solidFill>
              </a:rPr>
              <a:t>de los candidatos son falsos positivos</a:t>
            </a:r>
            <a:endParaRPr lang="en-US" sz="1400" dirty="0"/>
          </a:p>
        </p:txBody>
      </p:sp>
      <p:sp>
        <p:nvSpPr>
          <p:cNvPr id="9" name="Text 7"/>
          <p:cNvSpPr txBox="1"/>
          <p:nvPr/>
        </p:nvSpPr>
        <p:spPr>
          <a:xfrm>
            <a:off x="3017520" y="4709160"/>
            <a:ext cx="2377440" cy="868680"/>
          </a:xfrm>
          <a:prstGeom prst="rect">
            <a:avLst/>
          </a:prstGeom>
          <a:noFill/>
          <a:ln/>
        </p:spPr>
        <p:txBody>
          <a:bodyPr wrap="square" lIns="0" tIns="0" rIns="0" bIns="0" rtlCol="0" anchor="b"/>
          <a:lstStyle/>
          <a:p>
            <a:pPr indent="0" marL="0">
              <a:buNone/>
            </a:pPr>
            <a:r>
              <a:rPr lang="en-US" sz="3600" b="1" dirty="0">
                <a:solidFill>
                  <a:schemeClr val="accent6"/>
                </a:solidFill>
                <a:latin typeface="Cambria" pitchFamily="34" charset="0"/>
                <a:ea typeface="Cambria" pitchFamily="34" charset="-122"/>
                <a:cs typeface="Cambria" pitchFamily="34" charset="-120"/>
              </a:rPr>
              <a:t>22 %</a:t>
            </a:r>
            <a:endParaRPr lang="en-US" sz="3600" dirty="0"/>
          </a:p>
        </p:txBody>
      </p:sp>
      <p:sp>
        <p:nvSpPr>
          <p:cNvPr id="10" name="Text 8"/>
          <p:cNvSpPr txBox="1"/>
          <p:nvPr/>
        </p:nvSpPr>
        <p:spPr>
          <a:xfrm>
            <a:off x="3017520" y="5623560"/>
            <a:ext cx="2377440" cy="685800"/>
          </a:xfrm>
          <a:prstGeom prst="rect">
            <a:avLst/>
          </a:prstGeom>
          <a:noFill/>
          <a:ln/>
        </p:spPr>
        <p:txBody>
          <a:bodyPr wrap="square" lIns="0" tIns="0" rIns="0" bIns="0" rtlCol="0" anchor="t"/>
          <a:lstStyle/>
          <a:p>
            <a:pPr indent="0" marL="0">
              <a:buNone/>
            </a:pPr>
            <a:r>
              <a:rPr lang="en-US" sz="1400" dirty="0">
                <a:solidFill>
                  <a:schemeClr val="accent3"/>
                </a:solidFill>
              </a:rPr>
              <a:t>de las silo-bolsas no tienen candidato</a:t>
            </a:r>
            <a:endParaRPr lang="en-US" sz="1400" dirty="0"/>
          </a:p>
        </p:txBody>
      </p:sp>
      <p:pic>
        <p:nvPicPr>
          <p:cNvPr id="11" name="fig_3_6" descr="/home/claude/ppt/ims/fig_3_6.jpg">    </p:cNvPr>
          <p:cNvPicPr>
            <a:picLocks noChangeAspect="1"/>
          </p:cNvPicPr>
          <p:nvPr/>
        </p:nvPicPr>
        <p:blipFill>
          <a:blip r:embed="rId1"/>
          <a:stretch>
            <a:fillRect/>
          </a:stretch>
        </p:blipFill>
        <p:spPr>
          <a:xfrm>
            <a:off x="5669280" y="2198204"/>
            <a:ext cx="5943600" cy="3238831"/>
          </a:xfrm>
          <a:prstGeom prst="rect">
            <a:avLst/>
          </a:prstGeom>
        </p:spPr>
      </p:pic>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CURACIÓN MANUAL</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 candidatos ruidosos a una verdad de terreno confiable</a:t>
            </a:r>
            <a:endParaRPr lang="en-US" sz="3200" dirty="0"/>
          </a:p>
        </p:txBody>
      </p:sp>
      <p:pic>
        <p:nvPicPr>
          <p:cNvPr id="4" name="fig_3_7" descr="/home/claude/ppt/ims/fig_3_7.jpg">    </p:cNvPr>
          <p:cNvPicPr>
            <a:picLocks noChangeAspect="1"/>
          </p:cNvPicPr>
          <p:nvPr/>
        </p:nvPicPr>
        <p:blipFill>
          <a:blip r:embed="rId1"/>
          <a:stretch>
            <a:fillRect/>
          </a:stretch>
        </p:blipFill>
        <p:spPr>
          <a:xfrm>
            <a:off x="746642" y="1554480"/>
            <a:ext cx="6370556" cy="4526280"/>
          </a:xfrm>
          <a:prstGeom prst="rect">
            <a:avLst/>
          </a:prstGeom>
        </p:spPr>
      </p:pic>
      <p:sp>
        <p:nvSpPr>
          <p:cNvPr id="5" name="Text 2"/>
          <p:cNvSpPr txBox="1"/>
          <p:nvPr/>
        </p:nvSpPr>
        <p:spPr>
          <a:xfrm>
            <a:off x="7680960" y="1600200"/>
            <a:ext cx="1920240" cy="86868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270</a:t>
            </a:r>
            <a:endParaRPr lang="en-US" sz="3400" dirty="0"/>
          </a:p>
        </p:txBody>
      </p:sp>
      <p:sp>
        <p:nvSpPr>
          <p:cNvPr id="6" name="Text 3"/>
          <p:cNvSpPr txBox="1"/>
          <p:nvPr/>
        </p:nvSpPr>
        <p:spPr>
          <a:xfrm>
            <a:off x="7680960" y="2514600"/>
            <a:ext cx="1920240" cy="685800"/>
          </a:xfrm>
          <a:prstGeom prst="rect">
            <a:avLst/>
          </a:prstGeom>
          <a:noFill/>
          <a:ln/>
        </p:spPr>
        <p:txBody>
          <a:bodyPr wrap="square" lIns="0" tIns="0" rIns="0" bIns="0" rtlCol="0" anchor="t"/>
          <a:lstStyle/>
          <a:p>
            <a:pPr indent="0" marL="0">
              <a:buNone/>
            </a:pPr>
            <a:r>
              <a:rPr lang="en-US" sz="1400" dirty="0">
                <a:solidFill>
                  <a:schemeClr val="accent3"/>
                </a:solidFill>
              </a:rPr>
              <a:t>teselas curadas (216 para V5 y 54 de reserva)</a:t>
            </a:r>
            <a:endParaRPr lang="en-US" sz="1400" dirty="0"/>
          </a:p>
        </p:txBody>
      </p:sp>
      <p:sp>
        <p:nvSpPr>
          <p:cNvPr id="7" name="Text 4"/>
          <p:cNvSpPr txBox="1"/>
          <p:nvPr/>
        </p:nvSpPr>
        <p:spPr>
          <a:xfrm>
            <a:off x="9738360" y="1600200"/>
            <a:ext cx="1920240" cy="86868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≈3 meses</a:t>
            </a:r>
            <a:endParaRPr lang="en-US" sz="3400" dirty="0"/>
          </a:p>
        </p:txBody>
      </p:sp>
      <p:sp>
        <p:nvSpPr>
          <p:cNvPr id="8" name="Text 5"/>
          <p:cNvSpPr txBox="1"/>
          <p:nvPr/>
        </p:nvSpPr>
        <p:spPr>
          <a:xfrm>
            <a:off x="9738360" y="2514600"/>
            <a:ext cx="1920240" cy="685800"/>
          </a:xfrm>
          <a:prstGeom prst="rect">
            <a:avLst/>
          </a:prstGeom>
          <a:noFill/>
          <a:ln/>
        </p:spPr>
        <p:txBody>
          <a:bodyPr wrap="square" lIns="0" tIns="0" rIns="0" bIns="0" rtlCol="0" anchor="t"/>
          <a:lstStyle/>
          <a:p>
            <a:pPr indent="0" marL="0">
              <a:buNone/>
            </a:pPr>
            <a:r>
              <a:rPr lang="en-US" sz="1400" dirty="0">
                <a:solidFill>
                  <a:schemeClr val="accent3"/>
                </a:solidFill>
              </a:rPr>
              <a:t>de trabajo, de 5 a 10 minutos por tesela</a:t>
            </a:r>
            <a:endParaRPr lang="en-US" sz="1400" dirty="0"/>
          </a:p>
        </p:txBody>
      </p:sp>
      <p:sp>
        <p:nvSpPr>
          <p:cNvPr id="9" name="Text 6"/>
          <p:cNvSpPr txBox="1"/>
          <p:nvPr/>
        </p:nvSpPr>
        <p:spPr>
          <a:xfrm>
            <a:off x="7680960" y="3566160"/>
            <a:ext cx="3931920" cy="256032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Barrido sistemático de cada tesela en QGIS, independiente de los candidatos.</a:t>
            </a:r>
            <a:endParaRPr lang="en-US" sz="1400" dirty="0"/>
          </a:p>
          <a:p>
            <a:pPr marL="203200" indent="-203200">
              <a:spcAft>
                <a:spcPts val="800"/>
              </a:spcAft>
              <a:buSzPct val="100000"/>
              <a:buChar char="•"/>
            </a:pPr>
            <a:r>
              <a:rPr lang="en-US" sz="1400" dirty="0">
                <a:solidFill>
                  <a:schemeClr val="tx1"/>
                </a:solidFill>
              </a:rPr>
              <a:t>Decisión con tres tipos de evidencia: geométrica, espectral y contextual.</a:t>
            </a:r>
            <a:endParaRPr lang="en-US" sz="1400" dirty="0"/>
          </a:p>
          <a:p>
            <a:pPr marL="203200" indent="-203200">
              <a:spcAft>
                <a:spcPts val="800"/>
              </a:spcAft>
              <a:buSzPct val="100000"/>
              <a:buChar char="•"/>
            </a:pPr>
            <a:r>
              <a:rPr lang="en-US" sz="1400" dirty="0">
                <a:solidFill>
                  <a:schemeClr val="tx1"/>
                </a:solidFill>
              </a:rPr>
              <a:t>Se eliminan confusores y se digitalizan las bolsas omitidas por el índice.</a:t>
            </a:r>
            <a:endParaRPr lang="en-US" sz="1400" dirty="0"/>
          </a:p>
          <a:p>
            <a:pPr marL="203200" indent="-203200">
              <a:spcAft>
                <a:spcPts val="800"/>
              </a:spcAft>
              <a:buSzPct val="100000"/>
              <a:buChar char="•"/>
            </a:pPr>
            <a:r>
              <a:rPr lang="en-US" sz="1400" dirty="0">
                <a:solidFill>
                  <a:schemeClr val="tx1"/>
                </a:solidFill>
              </a:rPr>
              <a:t>Verificación final contra las predicciones de un modelo previo (V3).</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DISEÑO EXPERIMENTAL</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Cuatro versiones, una sola arquitectura</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498080" cy="914400"/>
        </p:xfrm>
        <a:graphic>
          <a:graphicData uri="http://schemas.openxmlformats.org/drawingml/2006/table">
            <a:tbl>
              <a:tblPr/>
              <a:tblGrid>
                <a:gridCol w="1005840"/>
                <a:gridCol w="1737360"/>
                <a:gridCol w="1188720"/>
                <a:gridCol w="1920240"/>
                <a:gridCol w="1645920"/>
              </a:tblGrid>
              <a:tr h="566928">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Versión</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Etiquetas</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Imágenes</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Muestreo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Aumento de datos</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r>
              <a:tr h="566928">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Ruidosas (índice)</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Aleatorio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Volteo horizontal</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r>
              <a:tr h="566928">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V3</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Ruidosas (índice)</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Aleatorio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Volteos y brillo/contraste</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r>
              <a:tr h="566928">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Ruidosas (índice)</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Estratificado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Volteos y brillo/contraste</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r>
              <a:tr h="566928">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V5</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Curadas (manual)</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216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Estratificado balanceado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Ninguno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8503920" y="1691640"/>
            <a:ext cx="3108960" cy="868680"/>
          </a:xfrm>
          <a:prstGeom prst="rect">
            <a:avLst/>
          </a:prstGeom>
          <a:noFill/>
          <a:ln/>
        </p:spPr>
        <p:txBody>
          <a:bodyPr wrap="square" lIns="0" tIns="0" rIns="0" bIns="0" rtlCol="0" anchor="b"/>
          <a:lstStyle/>
          <a:p>
            <a:pPr indent="0" marL="0">
              <a:buNone/>
            </a:pPr>
            <a:r>
              <a:rPr lang="en-US" sz="6000" b="1" dirty="0">
                <a:solidFill>
                  <a:schemeClr val="accent2"/>
                </a:solidFill>
                <a:latin typeface="Cambria" pitchFamily="34" charset="0"/>
                <a:ea typeface="Cambria" pitchFamily="34" charset="-122"/>
                <a:cs typeface="Cambria" pitchFamily="34" charset="-120"/>
              </a:rPr>
              <a:t>≈2 %</a:t>
            </a:r>
            <a:endParaRPr lang="en-US" sz="6000" dirty="0"/>
          </a:p>
        </p:txBody>
      </p:sp>
      <p:sp>
        <p:nvSpPr>
          <p:cNvPr id="6" name="Text 3"/>
          <p:cNvSpPr txBox="1"/>
          <p:nvPr/>
        </p:nvSpPr>
        <p:spPr>
          <a:xfrm>
            <a:off x="8503920" y="2606040"/>
            <a:ext cx="3108960" cy="685800"/>
          </a:xfrm>
          <a:prstGeom prst="rect">
            <a:avLst/>
          </a:prstGeom>
          <a:noFill/>
          <a:ln/>
        </p:spPr>
        <p:txBody>
          <a:bodyPr wrap="square" lIns="0" tIns="0" rIns="0" bIns="0" rtlCol="0" anchor="t"/>
          <a:lstStyle/>
          <a:p>
            <a:pPr indent="0" marL="0">
              <a:buNone/>
            </a:pPr>
            <a:r>
              <a:rPr lang="en-US" sz="1400" dirty="0">
                <a:solidFill>
                  <a:schemeClr val="accent3"/>
                </a:solidFill>
              </a:rPr>
              <a:t>V5 usa alrededor del 2 % de las imágenes de V4</a:t>
            </a:r>
            <a:endParaRPr lang="en-US" sz="1400" dirty="0"/>
          </a:p>
        </p:txBody>
      </p:sp>
      <p:sp>
        <p:nvSpPr>
          <p:cNvPr id="7" name="tarjeta"/>
          <p:cNvSpPr/>
          <p:nvPr/>
        </p:nvSpPr>
        <p:spPr>
          <a:xfrm>
            <a:off x="8503920" y="3794760"/>
            <a:ext cx="3108960" cy="2240280"/>
          </a:xfrm>
          <a:prstGeom prst="roundRect">
            <a:avLst>
              <a:gd name="adj" fmla="val 4898"/>
            </a:avLst>
          </a:prstGeom>
          <a:solidFill>
            <a:schemeClr val="bg2"/>
          </a:solidFill>
          <a:ln w="12700">
            <a:solidFill>
              <a:schemeClr val="bg2"/>
            </a:solidFill>
            <a:prstDash val="solid"/>
          </a:ln>
        </p:spPr>
      </p:sp>
      <p:sp>
        <p:nvSpPr>
          <p:cNvPr id="8" name="Text 5"/>
          <p:cNvSpPr txBox="1"/>
          <p:nvPr/>
        </p:nvSpPr>
        <p:spPr>
          <a:xfrm>
            <a:off x="8732520" y="3959352"/>
            <a:ext cx="26517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Comparación clave</a:t>
            </a:r>
            <a:endParaRPr lang="en-US" sz="1700" dirty="0"/>
          </a:p>
        </p:txBody>
      </p:sp>
      <p:sp>
        <p:nvSpPr>
          <p:cNvPr id="9" name="Text 6"/>
          <p:cNvSpPr txBox="1"/>
          <p:nvPr/>
        </p:nvSpPr>
        <p:spPr>
          <a:xfrm>
            <a:off x="8732520" y="4416552"/>
            <a:ext cx="2651760" cy="1463040"/>
          </a:xfrm>
          <a:prstGeom prst="rect">
            <a:avLst/>
          </a:prstGeom>
          <a:noFill/>
          <a:ln/>
        </p:spPr>
        <p:txBody>
          <a:bodyPr wrap="square" lIns="0" tIns="0" rIns="0" bIns="0" rtlCol="0" anchor="t"/>
          <a:lstStyle/>
          <a:p>
            <a:pPr indent="0" marL="0">
              <a:buNone/>
            </a:pPr>
            <a:r>
              <a:rPr lang="en-US" sz="1400" dirty="0">
                <a:solidFill>
                  <a:schemeClr val="tx1"/>
                </a:solidFill>
              </a:rPr>
              <a:t>V4 frente a V5: mismo muestreo estratificado y misma arquitectura; cambia la calidad y el tamaño del conjunto.</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MODELO Y ENTRENAMIENTO</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Faster R-CNN adaptado a objetos chicos y alargados</a:t>
            </a:r>
            <a:endParaRPr lang="en-US" sz="3200" dirty="0"/>
          </a:p>
        </p:txBody>
      </p:sp>
      <p:sp>
        <p:nvSpPr>
          <p:cNvPr id="4" name="tarjeta"/>
          <p:cNvSpPr/>
          <p:nvPr/>
        </p:nvSpPr>
        <p:spPr>
          <a:xfrm>
            <a:off x="548640" y="1645920"/>
            <a:ext cx="3657600" cy="2057400"/>
          </a:xfrm>
          <a:prstGeom prst="roundRect">
            <a:avLst>
              <a:gd name="adj" fmla="val 5333"/>
            </a:avLst>
          </a:prstGeom>
          <a:solidFill>
            <a:schemeClr val="bg2"/>
          </a:solidFill>
          <a:ln w="12700">
            <a:solidFill>
              <a:schemeClr val="bg2"/>
            </a:solidFill>
            <a:prstDash val="solid"/>
          </a:ln>
        </p:spPr>
      </p:sp>
      <p:sp>
        <p:nvSpPr>
          <p:cNvPr id="5" name="Text 3"/>
          <p:cNvSpPr txBox="1"/>
          <p:nvPr/>
        </p:nvSpPr>
        <p:spPr>
          <a:xfrm>
            <a:off x="777240" y="1810512"/>
            <a:ext cx="320040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Arquitectura</a:t>
            </a:r>
            <a:endParaRPr lang="en-US" sz="1700" dirty="0"/>
          </a:p>
        </p:txBody>
      </p:sp>
      <p:sp>
        <p:nvSpPr>
          <p:cNvPr id="6" name="Text 4"/>
          <p:cNvSpPr txBox="1"/>
          <p:nvPr/>
        </p:nvSpPr>
        <p:spPr>
          <a:xfrm>
            <a:off x="777240" y="2267712"/>
            <a:ext cx="3200400" cy="1280160"/>
          </a:xfrm>
          <a:prstGeom prst="rect">
            <a:avLst/>
          </a:prstGeom>
          <a:noFill/>
          <a:ln/>
        </p:spPr>
        <p:txBody>
          <a:bodyPr wrap="square" lIns="0" tIns="0" rIns="0" bIns="0" rtlCol="0" anchor="t"/>
          <a:lstStyle/>
          <a:p>
            <a:pPr indent="0" marL="0">
              <a:buNone/>
            </a:pPr>
            <a:r>
              <a:rPr lang="en-US" sz="1400" dirty="0">
                <a:solidFill>
                  <a:schemeClr val="tx1"/>
                </a:solidFill>
              </a:rPr>
              <a:t>Faster R-CNN con backbone ResNet50-FPN preentrenado en ImageNet. Entrada RGB: el NIR se reserva para generar etiquetas.</a:t>
            </a:r>
            <a:endParaRPr lang="en-US" sz="1400" dirty="0"/>
          </a:p>
        </p:txBody>
      </p:sp>
      <p:sp>
        <p:nvSpPr>
          <p:cNvPr id="7" name="tarjeta"/>
          <p:cNvSpPr/>
          <p:nvPr/>
        </p:nvSpPr>
        <p:spPr>
          <a:xfrm>
            <a:off x="548640" y="3886200"/>
            <a:ext cx="3657600" cy="2194560"/>
          </a:xfrm>
          <a:prstGeom prst="roundRect">
            <a:avLst>
              <a:gd name="adj" fmla="val 5000"/>
            </a:avLst>
          </a:prstGeom>
          <a:solidFill>
            <a:schemeClr val="bg2"/>
          </a:solidFill>
          <a:ln w="12700">
            <a:solidFill>
              <a:schemeClr val="bg2"/>
            </a:solidFill>
            <a:prstDash val="solid"/>
          </a:ln>
        </p:spPr>
      </p:sp>
      <p:sp>
        <p:nvSpPr>
          <p:cNvPr id="8" name="Text 6"/>
          <p:cNvSpPr txBox="1"/>
          <p:nvPr/>
        </p:nvSpPr>
        <p:spPr>
          <a:xfrm>
            <a:off x="777240" y="4050792"/>
            <a:ext cx="320040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Anclas adaptadas</a:t>
            </a:r>
            <a:endParaRPr lang="en-US" sz="1700" dirty="0"/>
          </a:p>
        </p:txBody>
      </p:sp>
      <p:sp>
        <p:nvSpPr>
          <p:cNvPr id="9" name="Text 7"/>
          <p:cNvSpPr txBox="1"/>
          <p:nvPr/>
        </p:nvSpPr>
        <p:spPr>
          <a:xfrm>
            <a:off x="777240" y="4507992"/>
            <a:ext cx="3200400" cy="1417320"/>
          </a:xfrm>
          <a:prstGeom prst="rect">
            <a:avLst/>
          </a:prstGeom>
          <a:noFill/>
          <a:ln/>
        </p:spPr>
        <p:txBody>
          <a:bodyPr wrap="square" lIns="0" tIns="0" rIns="0" bIns="0" rtlCol="0" anchor="t"/>
          <a:lstStyle/>
          <a:p>
            <a:pPr indent="0" marL="0">
              <a:buNone/>
            </a:pPr>
            <a:r>
              <a:rPr lang="en-US" sz="1400" dirty="0">
                <a:solidFill>
                  <a:schemeClr val="tx1"/>
                </a:solidFill>
              </a:rPr>
              <a:t>Escalas de 16 a 256 px y relaciones de aspecto extremas (0,2 y 5,0) para captar bolsas horizontales y verticales.</a:t>
            </a:r>
            <a:endParaRPr lang="en-US" sz="1400" dirty="0"/>
          </a:p>
        </p:txBody>
      </p:sp>
      <p:sp>
        <p:nvSpPr>
          <p:cNvPr id="10" name="Text 8"/>
          <p:cNvSpPr txBox="1"/>
          <p:nvPr/>
        </p:nvSpPr>
        <p:spPr>
          <a:xfrm>
            <a:off x="4480560" y="1691640"/>
            <a:ext cx="237744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CPU</a:t>
            </a:r>
            <a:endParaRPr lang="en-US" sz="4400" dirty="0"/>
          </a:p>
        </p:txBody>
      </p:sp>
      <p:sp>
        <p:nvSpPr>
          <p:cNvPr id="11" name="Text 9"/>
          <p:cNvSpPr txBox="1"/>
          <p:nvPr/>
        </p:nvSpPr>
        <p:spPr>
          <a:xfrm>
            <a:off x="4480560" y="2606040"/>
            <a:ext cx="2377440" cy="685800"/>
          </a:xfrm>
          <a:prstGeom prst="rect">
            <a:avLst/>
          </a:prstGeom>
          <a:noFill/>
          <a:ln/>
        </p:spPr>
        <p:txBody>
          <a:bodyPr wrap="square" lIns="0" tIns="0" rIns="0" bIns="0" rtlCol="0" anchor="t"/>
          <a:lstStyle/>
          <a:p>
            <a:pPr indent="0" marL="0">
              <a:buNone/>
            </a:pPr>
            <a:r>
              <a:rPr lang="en-US" sz="1400" dirty="0">
                <a:solidFill>
                  <a:schemeClr val="accent3"/>
                </a:solidFill>
              </a:rPr>
              <a:t>sin GPU: checkpoints por época para reanudar</a:t>
            </a:r>
            <a:endParaRPr lang="en-US" sz="1400" dirty="0"/>
          </a:p>
        </p:txBody>
      </p:sp>
      <p:sp>
        <p:nvSpPr>
          <p:cNvPr id="12" name="Text 10"/>
          <p:cNvSpPr txBox="1"/>
          <p:nvPr/>
        </p:nvSpPr>
        <p:spPr>
          <a:xfrm>
            <a:off x="4480560" y="3291840"/>
            <a:ext cx="237744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≈22 h</a:t>
            </a:r>
            <a:endParaRPr lang="en-US" sz="4400" dirty="0"/>
          </a:p>
        </p:txBody>
      </p:sp>
      <p:sp>
        <p:nvSpPr>
          <p:cNvPr id="13" name="Text 11"/>
          <p:cNvSpPr txBox="1"/>
          <p:nvPr/>
        </p:nvSpPr>
        <p:spPr>
          <a:xfrm>
            <a:off x="4480560" y="4206240"/>
            <a:ext cx="2377440" cy="685800"/>
          </a:xfrm>
          <a:prstGeom prst="rect">
            <a:avLst/>
          </a:prstGeom>
          <a:noFill/>
          <a:ln/>
        </p:spPr>
        <p:txBody>
          <a:bodyPr wrap="square" lIns="0" tIns="0" rIns="0" bIns="0" rtlCol="0" anchor="t"/>
          <a:lstStyle/>
          <a:p>
            <a:pPr indent="0" marL="0">
              <a:buNone/>
            </a:pPr>
            <a:r>
              <a:rPr lang="en-US" sz="1400" dirty="0">
                <a:solidFill>
                  <a:schemeClr val="accent3"/>
                </a:solidFill>
              </a:rPr>
              <a:t>40 épocas de V5 (≈34 min cada una)</a:t>
            </a:r>
            <a:endParaRPr lang="en-US" sz="1400" dirty="0"/>
          </a:p>
        </p:txBody>
      </p:sp>
      <p:sp>
        <p:nvSpPr>
          <p:cNvPr id="14" name="Text 12"/>
          <p:cNvSpPr txBox="1"/>
          <p:nvPr/>
        </p:nvSpPr>
        <p:spPr>
          <a:xfrm>
            <a:off x="4480560" y="4800600"/>
            <a:ext cx="2377440" cy="86868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7.320</a:t>
            </a:r>
            <a:endParaRPr lang="en-US" sz="3600" dirty="0"/>
          </a:p>
        </p:txBody>
      </p:sp>
      <p:sp>
        <p:nvSpPr>
          <p:cNvPr id="15" name="Text 13"/>
          <p:cNvSpPr txBox="1"/>
          <p:nvPr/>
        </p:nvSpPr>
        <p:spPr>
          <a:xfrm>
            <a:off x="4480560" y="5715000"/>
            <a:ext cx="2377440" cy="685800"/>
          </a:xfrm>
          <a:prstGeom prst="rect">
            <a:avLst/>
          </a:prstGeom>
          <a:noFill/>
          <a:ln/>
        </p:spPr>
        <p:txBody>
          <a:bodyPr wrap="square" lIns="0" tIns="0" rIns="0" bIns="0" rtlCol="0" anchor="t"/>
          <a:lstStyle/>
          <a:p>
            <a:pPr indent="0" marL="0">
              <a:buNone/>
            </a:pPr>
            <a:r>
              <a:rPr lang="en-US" sz="1400" dirty="0">
                <a:solidFill>
                  <a:schemeClr val="accent3"/>
                </a:solidFill>
              </a:rPr>
              <a:t>pasadas de imagen de V5, frente a 42.500 de V4</a:t>
            </a:r>
            <a:endParaRPr lang="en-US" sz="1400" dirty="0"/>
          </a:p>
        </p:txBody>
      </p:sp>
      <p:pic>
        <p:nvPicPr>
          <p:cNvPr id="16" name="fig_4_4" descr="/home/claude/ppt/ims/fig_4_4.jpg">    </p:cNvPr>
          <p:cNvPicPr>
            <a:picLocks noChangeAspect="1"/>
          </p:cNvPicPr>
          <p:nvPr/>
        </p:nvPicPr>
        <p:blipFill>
          <a:blip r:embed="rId1"/>
          <a:stretch>
            <a:fillRect/>
          </a:stretch>
        </p:blipFill>
        <p:spPr>
          <a:xfrm>
            <a:off x="7132320" y="2787727"/>
            <a:ext cx="4480560" cy="1831185"/>
          </a:xfrm>
          <a:prstGeom prst="rect">
            <a:avLst/>
          </a:prstGeom>
        </p:spPr>
      </p:pic>
      <p:sp>
        <p:nvSpPr>
          <p:cNvPr id="17" name="Text 14"/>
          <p:cNvSpPr txBox="1"/>
          <p:nvPr/>
        </p:nvSpPr>
        <p:spPr>
          <a:xfrm>
            <a:off x="7132320" y="5760720"/>
            <a:ext cx="4480560" cy="274320"/>
          </a:xfrm>
          <a:prstGeom prst="rect">
            <a:avLst/>
          </a:prstGeom>
          <a:noFill/>
          <a:ln/>
        </p:spPr>
        <p:txBody>
          <a:bodyPr wrap="square" lIns="0" tIns="0" rIns="0" bIns="0" rtlCol="0" anchor="ctr"/>
          <a:lstStyle/>
          <a:p>
            <a:pPr indent="0" marL="0">
              <a:buNone/>
            </a:pPr>
            <a:r>
              <a:rPr lang="en-US" sz="1000" i="1" dirty="0">
                <a:solidFill>
                  <a:schemeClr val="accent3"/>
                </a:solidFill>
              </a:rPr>
              <a:t>Curvas de pérdida de V4 y V5: V5 converge antes de que V4 complete su primera época.</a:t>
            </a:r>
            <a:endParaRPr lang="en-US" sz="10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PROTOCOLO DE EVALUACIÓN</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Un test curado, independiente y con reglas explícitas</a:t>
            </a:r>
            <a:endParaRPr lang="en-US" sz="3200" dirty="0"/>
          </a:p>
        </p:txBody>
      </p:sp>
      <p:sp>
        <p:nvSpPr>
          <p:cNvPr id="4" name="Text 2"/>
          <p:cNvSpPr txBox="1"/>
          <p:nvPr/>
        </p:nvSpPr>
        <p:spPr>
          <a:xfrm>
            <a:off x="548640" y="1645920"/>
            <a:ext cx="23317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27</a:t>
            </a:r>
            <a:endParaRPr lang="en-US" sz="4800" dirty="0"/>
          </a:p>
        </p:txBody>
      </p:sp>
      <p:sp>
        <p:nvSpPr>
          <p:cNvPr id="5" name="Text 3"/>
          <p:cNvSpPr txBox="1"/>
          <p:nvPr/>
        </p:nvSpPr>
        <p:spPr>
          <a:xfrm>
            <a:off x="548640" y="2560320"/>
            <a:ext cx="2331720" cy="685800"/>
          </a:xfrm>
          <a:prstGeom prst="rect">
            <a:avLst/>
          </a:prstGeom>
          <a:noFill/>
          <a:ln/>
        </p:spPr>
        <p:txBody>
          <a:bodyPr wrap="square" lIns="0" tIns="0" rIns="0" bIns="0" rtlCol="0" anchor="t"/>
          <a:lstStyle/>
          <a:p>
            <a:pPr indent="0" marL="0">
              <a:buNone/>
            </a:pPr>
            <a:r>
              <a:rPr lang="en-US" sz="1400" dirty="0">
                <a:solidFill>
                  <a:schemeClr val="accent3"/>
                </a:solidFill>
              </a:rPr>
              <a:t>teselas de prueba (2020), nunca vistas por ningún modelo</a:t>
            </a:r>
            <a:endParaRPr lang="en-US" sz="1400" dirty="0"/>
          </a:p>
        </p:txBody>
      </p:sp>
      <p:sp>
        <p:nvSpPr>
          <p:cNvPr id="6" name="Text 4"/>
          <p:cNvSpPr txBox="1"/>
          <p:nvPr/>
        </p:nvSpPr>
        <p:spPr>
          <a:xfrm>
            <a:off x="3063240" y="1645920"/>
            <a:ext cx="23317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586</a:t>
            </a:r>
            <a:endParaRPr lang="en-US" sz="4800" dirty="0"/>
          </a:p>
        </p:txBody>
      </p:sp>
      <p:sp>
        <p:nvSpPr>
          <p:cNvPr id="7" name="Text 5"/>
          <p:cNvSpPr txBox="1"/>
          <p:nvPr/>
        </p:nvSpPr>
        <p:spPr>
          <a:xfrm>
            <a:off x="3063240" y="2560320"/>
            <a:ext cx="2331720" cy="685800"/>
          </a:xfrm>
          <a:prstGeom prst="rect">
            <a:avLst/>
          </a:prstGeom>
          <a:noFill/>
          <a:ln/>
        </p:spPr>
        <p:txBody>
          <a:bodyPr wrap="square" lIns="0" tIns="0" rIns="0" bIns="0" rtlCol="0" anchor="t"/>
          <a:lstStyle/>
          <a:p>
            <a:pPr indent="0" marL="0">
              <a:buNone/>
            </a:pPr>
            <a:r>
              <a:rPr lang="en-US" sz="1400" dirty="0">
                <a:solidFill>
                  <a:schemeClr val="accent3"/>
                </a:solidFill>
              </a:rPr>
              <a:t>silo-bolsas en la verdad de terreno curada</a:t>
            </a:r>
            <a:endParaRPr lang="en-US" sz="1400" dirty="0"/>
          </a:p>
        </p:txBody>
      </p:sp>
      <p:sp>
        <p:nvSpPr>
          <p:cNvPr id="8" name="Text 6"/>
          <p:cNvSpPr txBox="1"/>
          <p:nvPr/>
        </p:nvSpPr>
        <p:spPr>
          <a:xfrm>
            <a:off x="548640" y="3429000"/>
            <a:ext cx="493776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Métricas: precisión, recall, F1 y AP. Sin exactitud: en detección no hay verdaderos negativos contables.</a:t>
            </a:r>
            <a:endParaRPr lang="en-US" sz="1500" dirty="0"/>
          </a:p>
          <a:p>
            <a:pPr marL="203200" indent="-203200">
              <a:spcAft>
                <a:spcPts val="800"/>
              </a:spcAft>
              <a:buSzPct val="100000"/>
              <a:buChar char="•"/>
            </a:pPr>
            <a:r>
              <a:rPr lang="en-US" sz="1500" dirty="0">
                <a:solidFill>
                  <a:schemeClr val="tx1"/>
                </a:solidFill>
              </a:rPr>
              <a:t>IoU de 0,15 para el acierto: en objetos de pocos píxeles, un corrimiento mínimo derrumba el IoU.</a:t>
            </a:r>
            <a:endParaRPr lang="en-US" sz="1500" dirty="0"/>
          </a:p>
          <a:p>
            <a:pPr marL="203200" indent="-203200">
              <a:spcAft>
                <a:spcPts val="800"/>
              </a:spcAft>
              <a:buSzPct val="100000"/>
              <a:buChar char="•"/>
            </a:pPr>
            <a:r>
              <a:rPr lang="en-US" sz="1500" dirty="0">
                <a:solidFill>
                  <a:schemeClr val="tx1"/>
                </a:solidFill>
              </a:rPr>
              <a:t>NMS adicional (IoU 0,3) igual para todas las versiones, para no contar dos veces una misma bolsa.</a:t>
            </a:r>
            <a:endParaRPr lang="en-US" sz="1500" dirty="0"/>
          </a:p>
          <a:p>
            <a:pPr marL="203200" indent="-203200">
              <a:spcAft>
                <a:spcPts val="800"/>
              </a:spcAft>
              <a:buSzPct val="100000"/>
              <a:buChar char="•"/>
            </a:pPr>
            <a:r>
              <a:rPr lang="en-US" sz="1500" dirty="0">
                <a:solidFill>
                  <a:schemeClr val="tx1"/>
                </a:solidFill>
              </a:rPr>
              <a:t>Pruebas pareadas: Wilcoxon sobre falsos positivos y bootstrap sobre la diferencia de AP.</a:t>
            </a:r>
            <a:endParaRPr lang="en-US" sz="1500" dirty="0"/>
          </a:p>
        </p:txBody>
      </p:sp>
      <p:pic>
        <p:nvPicPr>
          <p:cNvPr id="9" name="fig_4_1" descr="/home/claude/ppt/ims/fig_4_1.jpg">    </p:cNvPr>
          <p:cNvPicPr>
            <a:picLocks noChangeAspect="1"/>
          </p:cNvPicPr>
          <p:nvPr/>
        </p:nvPicPr>
        <p:blipFill>
          <a:blip r:embed="rId1"/>
          <a:stretch>
            <a:fillRect/>
          </a:stretch>
        </p:blipFill>
        <p:spPr>
          <a:xfrm>
            <a:off x="6334436" y="1554480"/>
            <a:ext cx="4796169" cy="4206240"/>
          </a:xfrm>
          <a:prstGeom prst="rect">
            <a:avLst/>
          </a:prstGeom>
        </p:spPr>
      </p:pic>
      <p:sp>
        <p:nvSpPr>
          <p:cNvPr id="10" name="Text 7"/>
          <p:cNvSpPr txBox="1"/>
          <p:nvPr/>
        </p:nvSpPr>
        <p:spPr>
          <a:xfrm>
            <a:off x="5852160" y="5806440"/>
            <a:ext cx="5760720" cy="274320"/>
          </a:xfrm>
          <a:prstGeom prst="rect">
            <a:avLst/>
          </a:prstGeom>
          <a:noFill/>
          <a:ln/>
        </p:spPr>
        <p:txBody>
          <a:bodyPr wrap="square" lIns="0" tIns="0" rIns="0" bIns="0" rtlCol="0" anchor="ctr"/>
          <a:lstStyle/>
          <a:p>
            <a:pPr indent="0" marL="0">
              <a:buNone/>
            </a:pPr>
            <a:r>
              <a:rPr lang="en-US" sz="1000" i="1" dirty="0">
                <a:solidFill>
                  <a:schemeClr val="accent3"/>
                </a:solidFill>
              </a:rPr>
              <a:t>Cajas duplicadas antes y después del NMS adicional.</a:t>
            </a:r>
            <a:endParaRPr lang="en-US" sz="10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822960" y="146304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03</a:t>
            </a:r>
            <a:endParaRPr lang="en-US" sz="9600" dirty="0"/>
          </a:p>
        </p:txBody>
      </p:sp>
      <p:sp>
        <p:nvSpPr>
          <p:cNvPr id="3" name="Text 0"/>
          <p:cNvSpPr/>
          <p:nvPr>
            <p:ph idx="102" type="title" hasCustomPrompt="1"/>
          </p:nvPr>
        </p:nvSpPr>
        <p:spPr>
          <a:xfrm>
            <a:off x="822960" y="3063240"/>
            <a:ext cx="10515600" cy="11887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Resultados</a:t>
            </a:r>
            <a:endParaRPr lang="en-US" sz="4000" dirty="0"/>
          </a:p>
        </p:txBody>
      </p:sp>
      <p:sp>
        <p:nvSpPr>
          <p:cNvPr id="4" name="Text 0"/>
          <p:cNvSpPr/>
          <p:nvPr>
            <p:ph idx="103" type="body" hasCustomPrompt="1"/>
          </p:nvPr>
        </p:nvSpPr>
        <p:spPr>
          <a:xfrm>
            <a:off x="822960" y="4297680"/>
            <a:ext cx="10058400" cy="109728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Conjunto de prueba de 2020: 27 teselas y 586 silo-bolsas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RESULTADOS 2020</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Con 216 imágenes curadas, V5 obtiene el mejor desempeño</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589520" cy="914400"/>
        </p:xfrm>
        <a:graphic>
          <a:graphicData uri="http://schemas.openxmlformats.org/drawingml/2006/table">
            <a:tbl>
              <a:tblPr/>
              <a:tblGrid>
                <a:gridCol w="2194560"/>
                <a:gridCol w="1051560"/>
                <a:gridCol w="914400"/>
                <a:gridCol w="868680"/>
                <a:gridCol w="1005840"/>
                <a:gridCol w="1554480"/>
              </a:tblGrid>
              <a:tr h="5029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Modelo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Precisión</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AP@0,15</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TP / FP / FN</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r>
              <a:tr h="502920">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V2 · ruidoso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0,681</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0,826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0,746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0,784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484 / 227 / 102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r>
              <a:tr h="502920">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V3 · ruidoso, aleatorio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0,800</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0,751</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0,775</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0,702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440 / 110 / 146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r>
              <a:tr h="502920">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V4 · ruidoso, 10k</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0,728</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0,826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0,774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0,781</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484 / 181 / 102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r>
              <a:tr h="502920">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V5 · curado, 216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0,864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0,826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0,845</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0,795</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484 / 76 / 102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8595360" y="1645920"/>
            <a:ext cx="301752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0,845</a:t>
            </a:r>
            <a:endParaRPr lang="en-US" sz="5400" dirty="0"/>
          </a:p>
        </p:txBody>
      </p:sp>
      <p:sp>
        <p:nvSpPr>
          <p:cNvPr id="6" name="Text 3"/>
          <p:cNvSpPr txBox="1"/>
          <p:nvPr/>
        </p:nvSpPr>
        <p:spPr>
          <a:xfrm>
            <a:off x="8595360" y="2560320"/>
            <a:ext cx="3017520" cy="685800"/>
          </a:xfrm>
          <a:prstGeom prst="rect">
            <a:avLst/>
          </a:prstGeom>
          <a:noFill/>
          <a:ln/>
        </p:spPr>
        <p:txBody>
          <a:bodyPr wrap="square" lIns="0" tIns="0" rIns="0" bIns="0" rtlCol="0" anchor="t"/>
          <a:lstStyle/>
          <a:p>
            <a:pPr indent="0" marL="0">
              <a:buNone/>
            </a:pPr>
            <a:r>
              <a:rPr lang="en-US" sz="1400" dirty="0">
                <a:solidFill>
                  <a:schemeClr val="accent3"/>
                </a:solidFill>
              </a:rPr>
              <a:t>F1 de V5, el mejor de las cuatro versiones</a:t>
            </a:r>
            <a:endParaRPr lang="en-US" sz="1400" dirty="0"/>
          </a:p>
        </p:txBody>
      </p:sp>
      <p:sp>
        <p:nvSpPr>
          <p:cNvPr id="7" name="Text 4"/>
          <p:cNvSpPr txBox="1"/>
          <p:nvPr/>
        </p:nvSpPr>
        <p:spPr>
          <a:xfrm>
            <a:off x="8595360" y="3429000"/>
            <a:ext cx="301752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0,852</a:t>
            </a:r>
            <a:endParaRPr lang="en-US" sz="4400" dirty="0"/>
          </a:p>
        </p:txBody>
      </p:sp>
      <p:sp>
        <p:nvSpPr>
          <p:cNvPr id="8" name="Text 5"/>
          <p:cNvSpPr txBox="1"/>
          <p:nvPr/>
        </p:nvSpPr>
        <p:spPr>
          <a:xfrm>
            <a:off x="8595360" y="4343400"/>
            <a:ext cx="3017520" cy="685800"/>
          </a:xfrm>
          <a:prstGeom prst="rect">
            <a:avLst/>
          </a:prstGeom>
          <a:noFill/>
          <a:ln/>
        </p:spPr>
        <p:txBody>
          <a:bodyPr wrap="square" lIns="0" tIns="0" rIns="0" bIns="0" rtlCol="0" anchor="t"/>
          <a:lstStyle/>
          <a:p>
            <a:pPr indent="0" marL="0">
              <a:buNone/>
            </a:pPr>
            <a:r>
              <a:rPr lang="en-US" sz="1400" dirty="0">
                <a:solidFill>
                  <a:schemeClr val="accent3"/>
                </a:solidFill>
              </a:rPr>
              <a:t>AP sobre la curva completa (V4: 0,810; V2: 0,783)</a:t>
            </a:r>
            <a:endParaRPr lang="en-US" sz="1400" dirty="0"/>
          </a:p>
        </p:txBody>
      </p:sp>
      <p:sp>
        <p:nvSpPr>
          <p:cNvPr id="9" name="Text 6"/>
          <p:cNvSpPr txBox="1"/>
          <p:nvPr/>
        </p:nvSpPr>
        <p:spPr>
          <a:xfrm>
            <a:off x="548640" y="4572000"/>
            <a:ext cx="7589520" cy="1280160"/>
          </a:xfrm>
          <a:prstGeom prst="rect">
            <a:avLst/>
          </a:prstGeom>
          <a:noFill/>
          <a:ln/>
        </p:spPr>
        <p:txBody>
          <a:bodyPr wrap="square" lIns="0" tIns="0" rIns="0" bIns="0" rtlCol="0" anchor="t"/>
          <a:lstStyle/>
          <a:p>
            <a:pPr indent="0" marL="0">
              <a:buNone/>
            </a:pPr>
            <a:r>
              <a:rPr lang="en-US" sz="1600" b="1" dirty="0">
                <a:solidFill>
                  <a:schemeClr val="accent1"/>
                </a:solidFill>
              </a:rPr>
              <a:t>Lectura: </a:t>
            </a:r>
            <a:pPr indent="0" marL="0">
              <a:buNone/>
            </a:pPr>
            <a:r>
              <a:rPr lang="en-US" sz="1600" dirty="0">
                <a:solidFill>
                  <a:schemeClr val="tx1"/>
                </a:solidFill>
              </a:rPr>
              <a:t>V5 iguala o supera a todas las versiones ruidosas usando alrededor del 2 % de los datos de V4. La ventaja se sostiene en todo el barrido del umbral de confianza.</a:t>
            </a:r>
            <a:endParaRPr lang="en-US" sz="16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DÓNDE ESTÁ LA DIFERENCIA</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Mismo recall, menos de la mitad de falsos positivos</a:t>
            </a:r>
            <a:endParaRPr lang="en-US" sz="3200" dirty="0"/>
          </a:p>
        </p:txBody>
      </p:sp>
      <p:graphicFrame>
        <p:nvGraphicFramePr>
          <p:cNvPr id="4" name="Chart 0" descr=""/>
          <p:cNvGraphicFramePr/>
          <p:nvPr/>
        </p:nvGraphicFramePr>
        <p:xfrm>
          <a:off x="548640" y="164592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040880" y="1645920"/>
            <a:ext cx="457200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484</a:t>
            </a:r>
            <a:endParaRPr lang="en-US" sz="5400" dirty="0"/>
          </a:p>
        </p:txBody>
      </p:sp>
      <p:sp>
        <p:nvSpPr>
          <p:cNvPr id="6" name="Text 3"/>
          <p:cNvSpPr txBox="1"/>
          <p:nvPr/>
        </p:nvSpPr>
        <p:spPr>
          <a:xfrm>
            <a:off x="7040880" y="2560320"/>
            <a:ext cx="4572000" cy="685800"/>
          </a:xfrm>
          <a:prstGeom prst="rect">
            <a:avLst/>
          </a:prstGeom>
          <a:noFill/>
          <a:ln/>
        </p:spPr>
        <p:txBody>
          <a:bodyPr wrap="square" lIns="0" tIns="0" rIns="0" bIns="0" rtlCol="0" anchor="t"/>
          <a:lstStyle/>
          <a:p>
            <a:pPr indent="0" marL="0">
              <a:buNone/>
            </a:pPr>
            <a:r>
              <a:rPr lang="en-US" sz="1400" dirty="0">
                <a:solidFill>
                  <a:schemeClr val="accent3"/>
                </a:solidFill>
              </a:rPr>
              <a:t>silo-bolsas detectadas por V2, V4 y V5: el mismo recall</a:t>
            </a:r>
            <a:endParaRPr lang="en-US" sz="1400" dirty="0"/>
          </a:p>
        </p:txBody>
      </p:sp>
      <p:sp>
        <p:nvSpPr>
          <p:cNvPr id="7" name="Text 4"/>
          <p:cNvSpPr txBox="1"/>
          <p:nvPr/>
        </p:nvSpPr>
        <p:spPr>
          <a:xfrm>
            <a:off x="7040880" y="3383280"/>
            <a:ext cx="4572000"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76 vs 181</a:t>
            </a:r>
            <a:endParaRPr lang="en-US" sz="4800" dirty="0"/>
          </a:p>
        </p:txBody>
      </p:sp>
      <p:sp>
        <p:nvSpPr>
          <p:cNvPr id="8" name="Text 5"/>
          <p:cNvSpPr txBox="1"/>
          <p:nvPr/>
        </p:nvSpPr>
        <p:spPr>
          <a:xfrm>
            <a:off x="7040880" y="4297680"/>
            <a:ext cx="4572000" cy="685800"/>
          </a:xfrm>
          <a:prstGeom prst="rect">
            <a:avLst/>
          </a:prstGeom>
          <a:noFill/>
          <a:ln/>
        </p:spPr>
        <p:txBody>
          <a:bodyPr wrap="square" lIns="0" tIns="0" rIns="0" bIns="0" rtlCol="0" anchor="t"/>
          <a:lstStyle/>
          <a:p>
            <a:pPr indent="0" marL="0">
              <a:buNone/>
            </a:pPr>
            <a:r>
              <a:rPr lang="en-US" sz="1400" dirty="0">
                <a:solidFill>
                  <a:schemeClr val="accent3"/>
                </a:solidFill>
              </a:rPr>
              <a:t>falsos positivos de V5 frente a V4</a:t>
            </a:r>
            <a:endParaRPr lang="en-US" sz="1400" dirty="0"/>
          </a:p>
        </p:txBody>
      </p:sp>
      <p:sp>
        <p:nvSpPr>
          <p:cNvPr id="9" name="Text 6"/>
          <p:cNvSpPr txBox="1"/>
          <p:nvPr/>
        </p:nvSpPr>
        <p:spPr>
          <a:xfrm>
            <a:off x="7040880" y="5120640"/>
            <a:ext cx="4572000" cy="914400"/>
          </a:xfrm>
          <a:prstGeom prst="rect">
            <a:avLst/>
          </a:prstGeom>
          <a:noFill/>
          <a:ln/>
        </p:spPr>
        <p:txBody>
          <a:bodyPr wrap="square" lIns="0" tIns="0" rIns="0" bIns="0" rtlCol="0" anchor="t"/>
          <a:lstStyle/>
          <a:p>
            <a:pPr indent="0" marL="0">
              <a:buNone/>
            </a:pPr>
            <a:r>
              <a:rPr lang="en-US" sz="1600" i="1" dirty="0">
                <a:solidFill>
                  <a:schemeClr val="tx2"/>
                </a:solidFill>
              </a:rPr>
              <a:t>La diferencia no está en cuántas silo-bolsas encuentra cada modelo, sino en cuánta superficie espuria agrega.</a:t>
            </a:r>
            <a:endParaRPr lang="en-US" sz="16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SIGNIFICANCIA ESTADÍSTICA</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 ventaja de V5 no es una fluctuación del muestreo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1554480"/>
                <a:gridCol w="1600200"/>
                <a:gridCol w="1463040"/>
                <a:gridCol w="1188720"/>
                <a:gridCol w="2148840"/>
                <a:gridCol w="1463040"/>
                <a:gridCol w="1645920"/>
              </a:tblGrid>
              <a:tr h="5029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Comparación</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ΔFP (mediana por imagen)</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Wilcoxon (p)</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ΔAP</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IC 95 % (ΔAP)</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Bootstrap (p)</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¿Significativa?</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r>
              <a:tr h="502920">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V5 vs V4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0,0005</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+0,038</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[+0,008; +0,083]</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0,027</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r>
              <a:tr h="502920">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V5 vs V2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0,0001</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+0,060</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[+0,014; +0,092]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0,002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r>
              <a:tr h="502920">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V4 vs V2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0,056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+0,022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[−0,014; +0,059]</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0,410</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r>
            </a:tbl>
          </a:graphicData>
        </a:graphic>
      </p:graphicFrame>
      <p:sp>
        <p:nvSpPr>
          <p:cNvPr id="5" name="tarjeta"/>
          <p:cNvSpPr/>
          <p:nvPr/>
        </p:nvSpPr>
        <p:spPr>
          <a:xfrm>
            <a:off x="548640" y="4023360"/>
            <a:ext cx="5394960" cy="2011680"/>
          </a:xfrm>
          <a:prstGeom prst="roundRect">
            <a:avLst>
              <a:gd name="adj" fmla="val 5455"/>
            </a:avLst>
          </a:prstGeom>
          <a:solidFill>
            <a:schemeClr val="bg2"/>
          </a:solidFill>
          <a:ln w="12700">
            <a:solidFill>
              <a:schemeClr val="bg2"/>
            </a:solidFill>
            <a:prstDash val="solid"/>
          </a:ln>
        </p:spPr>
      </p:sp>
      <p:sp>
        <p:nvSpPr>
          <p:cNvPr id="6" name="Text 3"/>
          <p:cNvSpPr txBox="1"/>
          <p:nvPr/>
        </p:nvSpPr>
        <p:spPr>
          <a:xfrm>
            <a:off x="777240" y="4187952"/>
            <a:ext cx="49377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Calidad de etiquetas</a:t>
            </a:r>
            <a:endParaRPr lang="en-US" sz="1700" dirty="0"/>
          </a:p>
        </p:txBody>
      </p:sp>
      <p:sp>
        <p:nvSpPr>
          <p:cNvPr id="7" name="Text 4"/>
          <p:cNvSpPr txBox="1"/>
          <p:nvPr/>
        </p:nvSpPr>
        <p:spPr>
          <a:xfrm>
            <a:off x="777240" y="4645152"/>
            <a:ext cx="4937760" cy="1234440"/>
          </a:xfrm>
          <a:prstGeom prst="rect">
            <a:avLst/>
          </a:prstGeom>
          <a:noFill/>
          <a:ln/>
        </p:spPr>
        <p:txBody>
          <a:bodyPr wrap="square" lIns="0" tIns="0" rIns="0" bIns="0" rtlCol="0" anchor="t"/>
          <a:lstStyle/>
          <a:p>
            <a:pPr indent="0" marL="0">
              <a:buNone/>
            </a:pPr>
            <a:r>
              <a:rPr lang="en-US" sz="1400" dirty="0">
                <a:solidFill>
                  <a:schemeClr val="tx1"/>
                </a:solidFill>
              </a:rPr>
              <a:t>V5 supera a V4 y a V2 en ambas métricas: menos falsos positivos por imagen y mayor AP, con intervalos que excluyen el cero.</a:t>
            </a:r>
            <a:endParaRPr lang="en-US" sz="1400" dirty="0"/>
          </a:p>
        </p:txBody>
      </p:sp>
      <p:sp>
        <p:nvSpPr>
          <p:cNvPr id="8" name="tarjeta"/>
          <p:cNvSpPr/>
          <p:nvPr/>
        </p:nvSpPr>
        <p:spPr>
          <a:xfrm>
            <a:off x="6217920" y="4023360"/>
            <a:ext cx="5394960" cy="2011680"/>
          </a:xfrm>
          <a:prstGeom prst="roundRect">
            <a:avLst>
              <a:gd name="adj" fmla="val 5455"/>
            </a:avLst>
          </a:prstGeom>
          <a:solidFill>
            <a:schemeClr val="bg2"/>
          </a:solidFill>
          <a:ln w="12700">
            <a:solidFill>
              <a:schemeClr val="bg2"/>
            </a:solidFill>
            <a:prstDash val="solid"/>
          </a:ln>
        </p:spPr>
      </p:sp>
      <p:sp>
        <p:nvSpPr>
          <p:cNvPr id="9" name="Text 6"/>
          <p:cNvSpPr txBox="1"/>
          <p:nvPr/>
        </p:nvSpPr>
        <p:spPr>
          <a:xfrm>
            <a:off x="6446520" y="4187952"/>
            <a:ext cx="49377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Más datos ruidosos</a:t>
            </a:r>
            <a:endParaRPr lang="en-US" sz="1700" dirty="0"/>
          </a:p>
        </p:txBody>
      </p:sp>
      <p:sp>
        <p:nvSpPr>
          <p:cNvPr id="10" name="Text 7"/>
          <p:cNvSpPr txBox="1"/>
          <p:nvPr/>
        </p:nvSpPr>
        <p:spPr>
          <a:xfrm>
            <a:off x="6446520" y="4645152"/>
            <a:ext cx="4937760" cy="1234440"/>
          </a:xfrm>
          <a:prstGeom prst="rect">
            <a:avLst/>
          </a:prstGeom>
          <a:noFill/>
          <a:ln/>
        </p:spPr>
        <p:txBody>
          <a:bodyPr wrap="square" lIns="0" tIns="0" rIns="0" bIns="0" rtlCol="0" anchor="t"/>
          <a:lstStyle/>
          <a:p>
            <a:pPr indent="0" marL="0">
              <a:buNone/>
            </a:pPr>
            <a:r>
              <a:rPr lang="en-US" sz="1400" dirty="0">
                <a:solidFill>
                  <a:schemeClr val="tx1"/>
                </a:solidFill>
              </a:rPr>
              <a:t>Entre V4 y V2, ambos con etiquetas ruidosas, la diferencia no es significativa: multiplicar los datos con ruido no mejoró el modelo.</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QUÉ TIPO DE ERROR COMETE CADA MODELO</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Las etiquetas limpias eliminan el error que no se corrige</a:t>
            </a:r>
            <a:endParaRPr lang="en-US" sz="3200" dirty="0"/>
          </a:p>
        </p:txBody>
      </p:sp>
      <p:graphicFrame>
        <p:nvGraphicFramePr>
          <p:cNvPr id="4" name="Chart 0" descr=""/>
          <p:cNvGraphicFramePr/>
          <p:nvPr/>
        </p:nvGraphicFramePr>
        <p:xfrm>
          <a:off x="548640" y="1645920"/>
          <a:ext cx="621792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223760" y="1645920"/>
            <a:ext cx="4389120" cy="868680"/>
          </a:xfrm>
          <a:prstGeom prst="rect">
            <a:avLst/>
          </a:prstGeom>
          <a:noFill/>
          <a:ln/>
        </p:spPr>
        <p:txBody>
          <a:bodyPr wrap="square" lIns="0" tIns="0" rIns="0" bIns="0" rtlCol="0" anchor="b"/>
          <a:lstStyle/>
          <a:p>
            <a:pPr indent="0" marL="0">
              <a:buNone/>
            </a:pPr>
            <a:r>
              <a:rPr lang="en-US" sz="6000" b="1" dirty="0">
                <a:solidFill>
                  <a:schemeClr val="accent6"/>
                </a:solidFill>
                <a:latin typeface="Cambria" pitchFamily="34" charset="0"/>
                <a:ea typeface="Cambria" pitchFamily="34" charset="-122"/>
                <a:cs typeface="Cambria" pitchFamily="34" charset="-120"/>
              </a:rPr>
              <a:t>−70 %</a:t>
            </a:r>
            <a:endParaRPr lang="en-US" sz="6000" dirty="0"/>
          </a:p>
        </p:txBody>
      </p:sp>
      <p:sp>
        <p:nvSpPr>
          <p:cNvPr id="6" name="Text 3"/>
          <p:cNvSpPr txBox="1"/>
          <p:nvPr/>
        </p:nvSpPr>
        <p:spPr>
          <a:xfrm>
            <a:off x="7223760" y="2560320"/>
            <a:ext cx="4389120" cy="685800"/>
          </a:xfrm>
          <a:prstGeom prst="rect">
            <a:avLst/>
          </a:prstGeom>
          <a:noFill/>
          <a:ln/>
        </p:spPr>
        <p:txBody>
          <a:bodyPr wrap="square" lIns="0" tIns="0" rIns="0" bIns="0" rtlCol="0" anchor="t"/>
          <a:lstStyle/>
          <a:p>
            <a:pPr indent="0" marL="0">
              <a:buNone/>
            </a:pPr>
            <a:r>
              <a:rPr lang="en-US" sz="1400" dirty="0">
                <a:solidFill>
                  <a:schemeClr val="accent3"/>
                </a:solidFill>
              </a:rPr>
              <a:t>falsas alarmas sobre el fondo de V5 frente a V4 (de 166 a 50)</a:t>
            </a:r>
            <a:endParaRPr lang="en-US" sz="1400" dirty="0"/>
          </a:p>
        </p:txBody>
      </p:sp>
      <p:sp>
        <p:nvSpPr>
          <p:cNvPr id="7" name="Text 4"/>
          <p:cNvSpPr txBox="1"/>
          <p:nvPr/>
        </p:nvSpPr>
        <p:spPr>
          <a:xfrm>
            <a:off x="7223760" y="3566160"/>
            <a:ext cx="4389120" cy="24688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En V2 y V4, el 92 % de los falsos positivos son superficies que no son silo-bolsas, aprendidas del ruido del índice.</a:t>
            </a:r>
            <a:endParaRPr lang="en-US" sz="1500" dirty="0"/>
          </a:p>
          <a:p>
            <a:pPr marL="203200" indent="-203200">
              <a:spcAft>
                <a:spcPts val="800"/>
              </a:spcAft>
              <a:buSzPct val="100000"/>
              <a:buChar char="•"/>
            </a:pPr>
            <a:r>
              <a:rPr lang="en-US" sz="1500" dirty="0">
                <a:solidFill>
                  <a:schemeClr val="tx1"/>
                </a:solidFill>
              </a:rPr>
              <a:t>En V5, un tercio cae sobre bolsas reales: cajas parciales y bolsas contiguas agrupadas en la verdad de terreno.</a:t>
            </a:r>
            <a:endParaRPr lang="en-US" sz="15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UNA OBJECIÓN ESPERABLE</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¿Gana V5 por las etiquetas o por entrenar distinto?</a:t>
            </a:r>
            <a:endParaRPr lang="en-US" sz="3200" dirty="0"/>
          </a:p>
        </p:txBody>
      </p:sp>
      <p:sp>
        <p:nvSpPr>
          <p:cNvPr id="4" name="Text 2"/>
          <p:cNvSpPr txBox="1"/>
          <p:nvPr/>
        </p:nvSpPr>
        <p:spPr>
          <a:xfrm>
            <a:off x="548640" y="1600200"/>
            <a:ext cx="11064240" cy="548640"/>
          </a:xfrm>
          <a:prstGeom prst="rect">
            <a:avLst/>
          </a:prstGeom>
          <a:noFill/>
          <a:ln/>
        </p:spPr>
        <p:txBody>
          <a:bodyPr wrap="square" lIns="0" tIns="0" rIns="0" bIns="0" rtlCol="0" anchor="ctr"/>
          <a:lstStyle/>
          <a:p>
            <a:pPr indent="0" marL="0">
              <a:buNone/>
            </a:pPr>
            <a:r>
              <a:rPr lang="en-US" sz="1700" dirty="0">
                <a:solidFill>
                  <a:schemeClr val="tx1"/>
                </a:solidFill>
              </a:rPr>
              <a:t>V5 tuvo más épocas y otra tasa de aprendizaje. Tres razones sostienen que la mejora se debe a la calidad del dato:</a:t>
            </a:r>
            <a:endParaRPr lang="en-US" sz="1700" dirty="0"/>
          </a:p>
        </p:txBody>
      </p:sp>
      <p:sp>
        <p:nvSpPr>
          <p:cNvPr id="5" name="tarjeta"/>
          <p:cNvSpPr/>
          <p:nvPr/>
        </p:nvSpPr>
        <p:spPr>
          <a:xfrm>
            <a:off x="548640" y="2377440"/>
            <a:ext cx="3566160" cy="2377440"/>
          </a:xfrm>
          <a:prstGeom prst="roundRect">
            <a:avLst>
              <a:gd name="adj" fmla="val 4615"/>
            </a:avLst>
          </a:prstGeom>
          <a:solidFill>
            <a:schemeClr val="bg2"/>
          </a:solidFill>
          <a:ln w="12700">
            <a:solidFill>
              <a:schemeClr val="bg2"/>
            </a:solidFill>
            <a:prstDash val="solid"/>
          </a:ln>
        </p:spPr>
      </p:sp>
      <p:sp>
        <p:nvSpPr>
          <p:cNvPr id="6" name="Text 4"/>
          <p:cNvSpPr txBox="1"/>
          <p:nvPr/>
        </p:nvSpPr>
        <p:spPr>
          <a:xfrm>
            <a:off x="777240" y="2542032"/>
            <a:ext cx="31089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1 · Menos cómputo, no más</a:t>
            </a:r>
            <a:endParaRPr lang="en-US" sz="1700" dirty="0"/>
          </a:p>
        </p:txBody>
      </p:sp>
      <p:sp>
        <p:nvSpPr>
          <p:cNvPr id="7" name="Text 5"/>
          <p:cNvSpPr txBox="1"/>
          <p:nvPr/>
        </p:nvSpPr>
        <p:spPr>
          <a:xfrm>
            <a:off x="777240" y="2999232"/>
            <a:ext cx="3108960" cy="1600200"/>
          </a:xfrm>
          <a:prstGeom prst="rect">
            <a:avLst/>
          </a:prstGeom>
          <a:noFill/>
          <a:ln/>
        </p:spPr>
        <p:txBody>
          <a:bodyPr wrap="square" lIns="0" tIns="0" rIns="0" bIns="0" rtlCol="0" anchor="t"/>
          <a:lstStyle/>
          <a:p>
            <a:pPr indent="0" marL="0">
              <a:buNone/>
            </a:pPr>
            <a:r>
              <a:rPr lang="en-US" sz="1400" dirty="0">
                <a:solidFill>
                  <a:schemeClr val="tx1"/>
                </a:solidFill>
              </a:rPr>
              <a:t>V5 procesó 7.320 pasadas de imagen frente a 42.500 de V4. Su ventaja no viene de entrenar más.</a:t>
            </a:r>
            <a:endParaRPr lang="en-US" sz="1400" dirty="0"/>
          </a:p>
        </p:txBody>
      </p:sp>
      <p:sp>
        <p:nvSpPr>
          <p:cNvPr id="8" name="tarjeta"/>
          <p:cNvSpPr/>
          <p:nvPr/>
        </p:nvSpPr>
        <p:spPr>
          <a:xfrm>
            <a:off x="4297680" y="2377440"/>
            <a:ext cx="3566160" cy="2377440"/>
          </a:xfrm>
          <a:prstGeom prst="roundRect">
            <a:avLst>
              <a:gd name="adj" fmla="val 4615"/>
            </a:avLst>
          </a:prstGeom>
          <a:solidFill>
            <a:schemeClr val="bg2"/>
          </a:solidFill>
          <a:ln w="12700">
            <a:solidFill>
              <a:schemeClr val="bg2"/>
            </a:solidFill>
            <a:prstDash val="solid"/>
          </a:ln>
        </p:spPr>
      </p:sp>
      <p:sp>
        <p:nvSpPr>
          <p:cNvPr id="9" name="Text 7"/>
          <p:cNvSpPr txBox="1"/>
          <p:nvPr/>
        </p:nvSpPr>
        <p:spPr>
          <a:xfrm>
            <a:off x="4526280" y="2542032"/>
            <a:ext cx="31089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2 · V4 no estaba sub-entrenado</a:t>
            </a:r>
            <a:endParaRPr lang="en-US" sz="1700" dirty="0"/>
          </a:p>
        </p:txBody>
      </p:sp>
      <p:sp>
        <p:nvSpPr>
          <p:cNvPr id="10" name="Text 8"/>
          <p:cNvSpPr txBox="1"/>
          <p:nvPr/>
        </p:nvSpPr>
        <p:spPr>
          <a:xfrm>
            <a:off x="4526280" y="2999232"/>
            <a:ext cx="3108960" cy="1600200"/>
          </a:xfrm>
          <a:prstGeom prst="rect">
            <a:avLst/>
          </a:prstGeom>
          <a:noFill/>
          <a:ln/>
        </p:spPr>
        <p:txBody>
          <a:bodyPr wrap="square" lIns="0" tIns="0" rIns="0" bIns="0" rtlCol="0" anchor="t"/>
          <a:lstStyle/>
          <a:p>
            <a:pPr indent="0" marL="0">
              <a:buNone/>
            </a:pPr>
            <a:r>
              <a:rPr lang="en-US" sz="1400" dirty="0">
                <a:solidFill>
                  <a:schemeClr val="tx1"/>
                </a:solidFill>
              </a:rPr>
              <a:t>Su pérdida se había aplanado (descensos menores a 0,01 por época) y su recall iguala al de V5.</a:t>
            </a:r>
            <a:endParaRPr lang="en-US" sz="1400" dirty="0"/>
          </a:p>
        </p:txBody>
      </p:sp>
      <p:sp>
        <p:nvSpPr>
          <p:cNvPr id="11" name="tarjeta"/>
          <p:cNvSpPr/>
          <p:nvPr/>
        </p:nvSpPr>
        <p:spPr>
          <a:xfrm>
            <a:off x="8046720" y="2377440"/>
            <a:ext cx="3566160" cy="2377440"/>
          </a:xfrm>
          <a:prstGeom prst="roundRect">
            <a:avLst>
              <a:gd name="adj" fmla="val 4615"/>
            </a:avLst>
          </a:prstGeom>
          <a:solidFill>
            <a:schemeClr val="bg2"/>
          </a:solidFill>
          <a:ln w="12700">
            <a:solidFill>
              <a:schemeClr val="bg2"/>
            </a:solidFill>
            <a:prstDash val="solid"/>
          </a:ln>
        </p:spPr>
      </p:sp>
      <p:sp>
        <p:nvSpPr>
          <p:cNvPr id="12" name="Text 10"/>
          <p:cNvSpPr txBox="1"/>
          <p:nvPr/>
        </p:nvSpPr>
        <p:spPr>
          <a:xfrm>
            <a:off x="8275320" y="2542032"/>
            <a:ext cx="31089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3 · El ruido se memoriza</a:t>
            </a:r>
            <a:endParaRPr lang="en-US" sz="1700" dirty="0"/>
          </a:p>
        </p:txBody>
      </p:sp>
      <p:sp>
        <p:nvSpPr>
          <p:cNvPr id="13" name="Text 11"/>
          <p:cNvSpPr txBox="1"/>
          <p:nvPr/>
        </p:nvSpPr>
        <p:spPr>
          <a:xfrm>
            <a:off x="8275320" y="2999232"/>
            <a:ext cx="3108960" cy="1600200"/>
          </a:xfrm>
          <a:prstGeom prst="rect">
            <a:avLst/>
          </a:prstGeom>
          <a:noFill/>
          <a:ln/>
        </p:spPr>
        <p:txBody>
          <a:bodyPr wrap="square" lIns="0" tIns="0" rIns="0" bIns="0" rtlCol="0" anchor="t"/>
          <a:lstStyle/>
          <a:p>
            <a:pPr indent="0" marL="0">
              <a:buNone/>
            </a:pPr>
            <a:r>
              <a:rPr lang="en-US" sz="1400" dirty="0">
                <a:solidFill>
                  <a:schemeClr val="tx1"/>
                </a:solidFill>
              </a:rPr>
              <a:t>Más épocas sobre etiquetas ruidosas tienden a consolidar las falsas alarmas, no a eliminarlas (Arpit et al., 2017).</a:t>
            </a:r>
            <a:endParaRPr lang="en-US" sz="1400" dirty="0"/>
          </a:p>
        </p:txBody>
      </p:sp>
      <p:sp>
        <p:nvSpPr>
          <p:cNvPr id="14" name="nota"/>
          <p:cNvSpPr/>
          <p:nvPr/>
        </p:nvSpPr>
        <p:spPr>
          <a:xfrm>
            <a:off x="548640" y="5029200"/>
            <a:ext cx="11064240" cy="1005840"/>
          </a:xfrm>
          <a:prstGeom prst="roundRect">
            <a:avLst>
              <a:gd name="adj" fmla="val 10909"/>
            </a:avLst>
          </a:prstGeom>
          <a:solidFill>
            <a:schemeClr val="tx2"/>
          </a:solidFill>
          <a:ln w="12700">
            <a:solidFill>
              <a:schemeClr val="tx2"/>
            </a:solidFill>
            <a:prstDash val="solid"/>
          </a:ln>
        </p:spPr>
      </p:sp>
      <p:sp>
        <p:nvSpPr>
          <p:cNvPr id="15" name="Text 13"/>
          <p:cNvSpPr txBox="1"/>
          <p:nvPr/>
        </p:nvSpPr>
        <p:spPr>
          <a:xfrm>
            <a:off x="822960" y="5029200"/>
            <a:ext cx="10515600" cy="1005840"/>
          </a:xfrm>
          <a:prstGeom prst="rect">
            <a:avLst/>
          </a:prstGeom>
          <a:noFill/>
          <a:ln/>
        </p:spPr>
        <p:txBody>
          <a:bodyPr wrap="square" lIns="0" tIns="0" rIns="0" bIns="0" rtlCol="0" anchor="ctr"/>
          <a:lstStyle/>
          <a:p>
            <a:pPr indent="0" marL="0">
              <a:buNone/>
            </a:pPr>
            <a:r>
              <a:rPr lang="en-US" sz="1700" i="1" dirty="0">
                <a:solidFill>
                  <a:schemeClr val="bg1"/>
                </a:solidFill>
              </a:rPr>
              <a:t>Y una diferencia que juega en contra de V5: V4 usó aumento de datos y V5 no.</a:t>
            </a:r>
            <a:endParaRPr lang="en-US" sz="17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LÍMITE DE DETECTABILIDAD</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Un 10 % de las bolsas queda bajo el límite del sensor</a:t>
            </a:r>
            <a:endParaRPr lang="en-US" sz="3200" dirty="0"/>
          </a:p>
        </p:txBody>
      </p:sp>
      <p:pic>
        <p:nvPicPr>
          <p:cNvPr id="4" name="fig_4_3" descr="/home/claude/ppt/ims/fig_4_3.jpg">    </p:cNvPr>
          <p:cNvPicPr>
            <a:picLocks noChangeAspect="1"/>
          </p:cNvPicPr>
          <p:nvPr/>
        </p:nvPicPr>
        <p:blipFill>
          <a:blip r:embed="rId1"/>
          <a:stretch>
            <a:fillRect/>
          </a:stretch>
        </p:blipFill>
        <p:spPr>
          <a:xfrm>
            <a:off x="719751" y="1554480"/>
            <a:ext cx="6607218" cy="4526280"/>
          </a:xfrm>
          <a:prstGeom prst="rect">
            <a:avLst/>
          </a:prstGeom>
        </p:spPr>
      </p:pic>
      <p:sp>
        <p:nvSpPr>
          <p:cNvPr id="5" name="Text 2"/>
          <p:cNvSpPr txBox="1"/>
          <p:nvPr/>
        </p:nvSpPr>
        <p:spPr>
          <a:xfrm>
            <a:off x="7863840" y="1554480"/>
            <a:ext cx="3749040" cy="8686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439</a:t>
            </a:r>
            <a:endParaRPr lang="en-US" sz="4000" dirty="0"/>
          </a:p>
        </p:txBody>
      </p:sp>
      <p:sp>
        <p:nvSpPr>
          <p:cNvPr id="6" name="Text 3"/>
          <p:cNvSpPr txBox="1"/>
          <p:nvPr/>
        </p:nvSpPr>
        <p:spPr>
          <a:xfrm>
            <a:off x="7863840" y="2468880"/>
            <a:ext cx="3749040" cy="685800"/>
          </a:xfrm>
          <a:prstGeom prst="rect">
            <a:avLst/>
          </a:prstGeom>
          <a:noFill/>
          <a:ln/>
        </p:spPr>
        <p:txBody>
          <a:bodyPr wrap="square" lIns="0" tIns="0" rIns="0" bIns="0" rtlCol="0" anchor="t"/>
          <a:lstStyle/>
          <a:p>
            <a:pPr indent="0" marL="0">
              <a:buNone/>
            </a:pPr>
            <a:r>
              <a:rPr lang="en-US" sz="1400" dirty="0">
                <a:solidFill>
                  <a:schemeClr val="accent3"/>
                </a:solidFill>
              </a:rPr>
              <a:t>detectadas por las tres versiones (casos claros)</a:t>
            </a:r>
            <a:endParaRPr lang="en-US" sz="1400" dirty="0"/>
          </a:p>
        </p:txBody>
      </p:sp>
      <p:sp>
        <p:nvSpPr>
          <p:cNvPr id="7" name="Text 4"/>
          <p:cNvSpPr txBox="1"/>
          <p:nvPr/>
        </p:nvSpPr>
        <p:spPr>
          <a:xfrm>
            <a:off x="7863840" y="3063240"/>
            <a:ext cx="3749040" cy="8686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86</a:t>
            </a:r>
            <a:endParaRPr lang="en-US" sz="4000" dirty="0"/>
          </a:p>
        </p:txBody>
      </p:sp>
      <p:sp>
        <p:nvSpPr>
          <p:cNvPr id="8" name="Text 5"/>
          <p:cNvSpPr txBox="1"/>
          <p:nvPr/>
        </p:nvSpPr>
        <p:spPr>
          <a:xfrm>
            <a:off x="7863840" y="3977640"/>
            <a:ext cx="3749040" cy="685800"/>
          </a:xfrm>
          <a:prstGeom prst="rect">
            <a:avLst/>
          </a:prstGeom>
          <a:noFill/>
          <a:ln/>
        </p:spPr>
        <p:txBody>
          <a:bodyPr wrap="square" lIns="0" tIns="0" rIns="0" bIns="0" rtlCol="0" anchor="t"/>
          <a:lstStyle/>
          <a:p>
            <a:pPr indent="0" marL="0">
              <a:buNone/>
            </a:pPr>
            <a:r>
              <a:rPr lang="en-US" sz="1400" dirty="0">
                <a:solidFill>
                  <a:schemeClr val="accent3"/>
                </a:solidFill>
              </a:rPr>
              <a:t>de frontera: las detecta una o dos versiones</a:t>
            </a:r>
            <a:endParaRPr lang="en-US" sz="1400" dirty="0"/>
          </a:p>
        </p:txBody>
      </p:sp>
      <p:sp>
        <p:nvSpPr>
          <p:cNvPr id="9" name="Text 6"/>
          <p:cNvSpPr txBox="1"/>
          <p:nvPr/>
        </p:nvSpPr>
        <p:spPr>
          <a:xfrm>
            <a:off x="7863840" y="4572000"/>
            <a:ext cx="3749040" cy="868680"/>
          </a:xfrm>
          <a:prstGeom prst="rect">
            <a:avLst/>
          </a:prstGeom>
          <a:noFill/>
          <a:ln/>
        </p:spPr>
        <p:txBody>
          <a:bodyPr wrap="square" lIns="0" tIns="0" rIns="0" bIns="0" rtlCol="0" anchor="b"/>
          <a:lstStyle/>
          <a:p>
            <a:pPr indent="0" marL="0">
              <a:buNone/>
            </a:pPr>
            <a:r>
              <a:rPr lang="en-US" sz="4000" b="1" dirty="0">
                <a:solidFill>
                  <a:schemeClr val="accent6"/>
                </a:solidFill>
                <a:latin typeface="Cambria" pitchFamily="34" charset="0"/>
                <a:ea typeface="Cambria" pitchFamily="34" charset="-122"/>
                <a:cs typeface="Cambria" pitchFamily="34" charset="-120"/>
              </a:rPr>
              <a:t>61</a:t>
            </a:r>
            <a:endParaRPr lang="en-US" sz="4000" dirty="0"/>
          </a:p>
        </p:txBody>
      </p:sp>
      <p:sp>
        <p:nvSpPr>
          <p:cNvPr id="10" name="Text 7"/>
          <p:cNvSpPr txBox="1"/>
          <p:nvPr/>
        </p:nvSpPr>
        <p:spPr>
          <a:xfrm>
            <a:off x="7863840" y="5486400"/>
            <a:ext cx="3749040" cy="685800"/>
          </a:xfrm>
          <a:prstGeom prst="rect">
            <a:avLst/>
          </a:prstGeom>
          <a:noFill/>
          <a:ln/>
        </p:spPr>
        <p:txBody>
          <a:bodyPr wrap="square" lIns="0" tIns="0" rIns="0" bIns="0" rtlCol="0" anchor="t"/>
          <a:lstStyle/>
          <a:p>
            <a:pPr indent="0" marL="0">
              <a:buNone/>
            </a:pPr>
            <a:r>
              <a:rPr lang="en-US" sz="1400" dirty="0">
                <a:solidFill>
                  <a:schemeClr val="accent3"/>
                </a:solidFill>
              </a:rPr>
              <a:t>no detectadas por ninguna: mediana de 6 px frente a 8 px</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822960" y="146304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04</a:t>
            </a:r>
            <a:endParaRPr lang="en-US" sz="9600" dirty="0"/>
          </a:p>
        </p:txBody>
      </p:sp>
      <p:sp>
        <p:nvSpPr>
          <p:cNvPr id="3" name="Text 0"/>
          <p:cNvSpPr/>
          <p:nvPr>
            <p:ph idx="102" type="title" hasCustomPrompt="1"/>
          </p:nvPr>
        </p:nvSpPr>
        <p:spPr>
          <a:xfrm>
            <a:off x="822960" y="3063240"/>
            <a:ext cx="10515600" cy="11887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Validación y aplicación</a:t>
            </a:r>
            <a:endParaRPr lang="en-US" sz="4000" dirty="0"/>
          </a:p>
        </p:txBody>
      </p:sp>
      <p:sp>
        <p:nvSpPr>
          <p:cNvPr id="4" name="Text 0"/>
          <p:cNvSpPr/>
          <p:nvPr>
            <p:ph idx="103" type="body" hasCustomPrompt="1"/>
          </p:nvPr>
        </p:nvSpPr>
        <p:spPr>
          <a:xfrm>
            <a:off x="822960" y="4297680"/>
            <a:ext cx="10058400" cy="109728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Un año que ningún modelo vio, y el detector en uso</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VALIDACIÓN TEMPORAL 2026</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En un año nuevo, V5 vuelve a obtener el mejor desempeño</a:t>
            </a:r>
            <a:endParaRPr lang="en-US" sz="3200" dirty="0"/>
          </a:p>
        </p:txBody>
      </p:sp>
      <p:graphicFrame>
        <p:nvGraphicFramePr>
          <p:cNvPr id="4" name="Chart 0" descr=""/>
          <p:cNvGraphicFramePr/>
          <p:nvPr/>
        </p:nvGraphicFramePr>
        <p:xfrm>
          <a:off x="548640" y="1645920"/>
          <a:ext cx="566928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675120" y="1645920"/>
            <a:ext cx="4937760" cy="868680"/>
          </a:xfrm>
          <a:prstGeom prst="rect">
            <a:avLst/>
          </a:prstGeom>
          <a:noFill/>
          <a:ln/>
        </p:spPr>
        <p:txBody>
          <a:bodyPr wrap="square" lIns="0" tIns="0" rIns="0" bIns="0" rtlCol="0" anchor="b"/>
          <a:lstStyle/>
          <a:p>
            <a:pPr indent="0" marL="0">
              <a:buNone/>
            </a:pPr>
            <a:r>
              <a:rPr lang="en-US" sz="4600" b="1" dirty="0">
                <a:solidFill>
                  <a:schemeClr val="accent1"/>
                </a:solidFill>
                <a:latin typeface="Cambria" pitchFamily="34" charset="0"/>
                <a:ea typeface="Cambria" pitchFamily="34" charset="-122"/>
                <a:cs typeface="Cambria" pitchFamily="34" charset="-120"/>
              </a:rPr>
              <a:t>29</a:t>
            </a:r>
            <a:endParaRPr lang="en-US" sz="4600" dirty="0"/>
          </a:p>
        </p:txBody>
      </p:sp>
      <p:sp>
        <p:nvSpPr>
          <p:cNvPr id="6" name="Text 3"/>
          <p:cNvSpPr txBox="1"/>
          <p:nvPr/>
        </p:nvSpPr>
        <p:spPr>
          <a:xfrm>
            <a:off x="6675120" y="2560320"/>
            <a:ext cx="4937760" cy="685800"/>
          </a:xfrm>
          <a:prstGeom prst="rect">
            <a:avLst/>
          </a:prstGeom>
          <a:noFill/>
          <a:ln/>
        </p:spPr>
        <p:txBody>
          <a:bodyPr wrap="square" lIns="0" tIns="0" rIns="0" bIns="0" rtlCol="0" anchor="t"/>
          <a:lstStyle/>
          <a:p>
            <a:pPr indent="0" marL="0">
              <a:buNone/>
            </a:pPr>
            <a:r>
              <a:rPr lang="en-US" sz="1400" dirty="0">
                <a:solidFill>
                  <a:schemeClr val="accent3"/>
                </a:solidFill>
              </a:rPr>
              <a:t>teselas de junio a agosto de 2026, en las tres teselas MGRS</a:t>
            </a:r>
            <a:endParaRPr lang="en-US" sz="1400" dirty="0"/>
          </a:p>
        </p:txBody>
      </p:sp>
      <p:sp>
        <p:nvSpPr>
          <p:cNvPr id="7" name="Text 4"/>
          <p:cNvSpPr txBox="1"/>
          <p:nvPr/>
        </p:nvSpPr>
        <p:spPr>
          <a:xfrm>
            <a:off x="6675120" y="3337560"/>
            <a:ext cx="4937760" cy="868680"/>
          </a:xfrm>
          <a:prstGeom prst="rect">
            <a:avLst/>
          </a:prstGeom>
          <a:noFill/>
          <a:ln/>
        </p:spPr>
        <p:txBody>
          <a:bodyPr wrap="square" lIns="0" tIns="0" rIns="0" bIns="0" rtlCol="0" anchor="b"/>
          <a:lstStyle/>
          <a:p>
            <a:pPr indent="0" marL="0">
              <a:buNone/>
            </a:pPr>
            <a:r>
              <a:rPr lang="en-US" sz="4600" b="1" dirty="0">
                <a:solidFill>
                  <a:schemeClr val="accent1"/>
                </a:solidFill>
                <a:latin typeface="Cambria" pitchFamily="34" charset="0"/>
                <a:ea typeface="Cambria" pitchFamily="34" charset="-122"/>
                <a:cs typeface="Cambria" pitchFamily="34" charset="-120"/>
              </a:rPr>
              <a:t>636</a:t>
            </a:r>
            <a:endParaRPr lang="en-US" sz="4600" dirty="0"/>
          </a:p>
        </p:txBody>
      </p:sp>
      <p:sp>
        <p:nvSpPr>
          <p:cNvPr id="8" name="Text 5"/>
          <p:cNvSpPr txBox="1"/>
          <p:nvPr/>
        </p:nvSpPr>
        <p:spPr>
          <a:xfrm>
            <a:off x="6675120" y="4251960"/>
            <a:ext cx="4937760" cy="685800"/>
          </a:xfrm>
          <a:prstGeom prst="rect">
            <a:avLst/>
          </a:prstGeom>
          <a:noFill/>
          <a:ln/>
        </p:spPr>
        <p:txBody>
          <a:bodyPr wrap="square" lIns="0" tIns="0" rIns="0" bIns="0" rtlCol="0" anchor="t"/>
          <a:lstStyle/>
          <a:p>
            <a:pPr indent="0" marL="0">
              <a:buNone/>
            </a:pPr>
            <a:r>
              <a:rPr lang="en-US" sz="1400" dirty="0">
                <a:solidFill>
                  <a:schemeClr val="accent3"/>
                </a:solidFill>
              </a:rPr>
              <a:t>silo-bolsas detectadas por V5, frente a 579 de V4</a:t>
            </a:r>
            <a:endParaRPr lang="en-US" sz="1400" dirty="0"/>
          </a:p>
        </p:txBody>
      </p:sp>
      <p:sp>
        <p:nvSpPr>
          <p:cNvPr id="9" name="Text 6"/>
          <p:cNvSpPr txBox="1"/>
          <p:nvPr/>
        </p:nvSpPr>
        <p:spPr>
          <a:xfrm>
            <a:off x="6675120" y="5120640"/>
            <a:ext cx="4937760" cy="914400"/>
          </a:xfrm>
          <a:prstGeom prst="rect">
            <a:avLst/>
          </a:prstGeom>
          <a:noFill/>
          <a:ln/>
        </p:spPr>
        <p:txBody>
          <a:bodyPr wrap="square" lIns="0" tIns="0" rIns="0" bIns="0" rtlCol="0" anchor="t"/>
          <a:lstStyle/>
          <a:p>
            <a:pPr indent="0" marL="0">
              <a:buNone/>
            </a:pPr>
            <a:r>
              <a:rPr lang="en-US" sz="1500" b="1" dirty="0">
                <a:solidFill>
                  <a:schemeClr val="accent1"/>
                </a:solidFill>
              </a:rPr>
              <a:t>Mecanismo distinto: </a:t>
            </a:r>
            <a:pPr indent="0" marL="0">
              <a:buNone/>
            </a:pPr>
            <a:r>
              <a:rPr lang="en-US" sz="1500" dirty="0">
                <a:solidFill>
                  <a:schemeClr val="tx1"/>
                </a:solidFill>
              </a:rPr>
              <a:t>en 2020 V5 ganaba por precisión; en 2026 gana por recall, con falsos positivos similares a V4 (150 y 161).</a:t>
            </a:r>
            <a:endParaRPr lang="en-US" sz="15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VALIDACIÓN TEMPORAL 2026</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Ventaja consistente, con significancia acotada frente a V4</a:t>
            </a:r>
            <a:endParaRPr lang="en-US" sz="3200" dirty="0"/>
          </a:p>
        </p:txBody>
      </p:sp>
      <p:pic>
        <p:nvPicPr>
          <p:cNvPr id="4" name="fig_4_6" descr="/home/claude/ppt/ims/fig_4_6.jpg">    </p:cNvPr>
          <p:cNvPicPr>
            <a:picLocks noChangeAspect="1"/>
          </p:cNvPicPr>
          <p:nvPr/>
        </p:nvPicPr>
        <p:blipFill>
          <a:blip r:embed="rId1"/>
          <a:stretch>
            <a:fillRect/>
          </a:stretch>
        </p:blipFill>
        <p:spPr>
          <a:xfrm>
            <a:off x="1092656" y="1554480"/>
            <a:ext cx="3849728" cy="4526280"/>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852160" y="1691640"/>
          <a:ext cx="5760720" cy="914400"/>
        </p:xfrm>
        <a:graphic>
          <a:graphicData uri="http://schemas.openxmlformats.org/drawingml/2006/table">
            <a:tbl>
              <a:tblPr/>
              <a:tblGrid>
                <a:gridCol w="1234440"/>
                <a:gridCol w="914400"/>
                <a:gridCol w="1691640"/>
                <a:gridCol w="868680"/>
                <a:gridCol w="1051560"/>
              </a:tblGrid>
              <a:tr h="5029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Comparación</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ΔAP</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IC 95 %</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Resultado</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accent1"/>
                    </a:solidFill>
                  </a:tcPr>
                </a:tc>
              </a:tr>
              <a:tr h="502920">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V5 vs V2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+0,057</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[+0,022; +0,084]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r>
              <a:tr h="502920">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V5 vs V4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+0,046</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[+0,007; +0,080]</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0,025</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Parcial</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2"/>
                    </a:solidFill>
                  </a:tcPr>
                </a:tc>
              </a:tr>
              <a:tr h="502920">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V4 vs V2</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+0,011</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[−0,014; +0,034]</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0,328</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Parcial</a:t>
                      </a:r>
                      <a:endParaRPr lang="en-US" sz="1400" dirty="0">
                        <a:latin typeface="Calibri" charset="0"/>
                        <a:ea typeface="Calibri" charset="0"/>
                        <a:cs typeface="Calibri" charset="0"/>
                      </a:endParaRPr>
                    </a:p>
                  </a:txBody>
                  <a:tcPr marL="91440" marR="91440" marT="45720" marB="45720" anchor="ctr">
                    <a:lnL w="9525" cap="flat" cmpd="sng" algn="ctr">
                      <a:solidFill>
                        <a:srgbClr val="D5DAEC"/>
                      </a:solidFill>
                      <a:prstDash val="solid"/>
                      <a:round/>
                      <a:headEnd type="none" w="med" len="med"/>
                      <a:tailEnd type="none" w="med" len="med"/>
                    </a:lnL>
                    <a:lnR w="9525" cap="flat" cmpd="sng" algn="ctr">
                      <a:solidFill>
                        <a:srgbClr val="D5DAEC"/>
                      </a:solidFill>
                      <a:prstDash val="solid"/>
                      <a:round/>
                      <a:headEnd type="none" w="med" len="med"/>
                      <a:tailEnd type="none" w="med" len="med"/>
                    </a:lnR>
                    <a:lnT w="9525" cap="flat" cmpd="sng" algn="ctr">
                      <a:solidFill>
                        <a:srgbClr val="D5DAEC"/>
                      </a:solidFill>
                      <a:prstDash val="solid"/>
                      <a:round/>
                      <a:headEnd type="none" w="med" len="med"/>
                      <a:tailEnd type="none" w="med" len="med"/>
                    </a:lnT>
                    <a:lnB w="9525" cap="flat" cmpd="sng" algn="ctr">
                      <a:solidFill>
                        <a:srgbClr val="D5DAEC"/>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852160" y="4023360"/>
            <a:ext cx="576072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V5 supera de forma significativa a la línea de base ruidosa en ambas métricas.</a:t>
            </a:r>
            <a:endParaRPr lang="en-US" sz="1500" dirty="0"/>
          </a:p>
          <a:p>
            <a:pPr marL="203200" indent="-203200">
              <a:spcAft>
                <a:spcPts val="800"/>
              </a:spcAft>
              <a:buSzPct val="100000"/>
              <a:buChar char="•"/>
            </a:pPr>
            <a:r>
              <a:rPr lang="en-US" sz="1500" dirty="0">
                <a:solidFill>
                  <a:schemeClr val="tx1"/>
                </a:solidFill>
              </a:rPr>
              <a:t>Frente a V4, el AP favorece a V5 con un intervalo que excluye el cero; en falsos positivos no se distinguen.</a:t>
            </a:r>
            <a:endParaRPr lang="en-US" sz="1500" dirty="0"/>
          </a:p>
          <a:p>
            <a:pPr marL="203200" indent="-203200">
              <a:spcAft>
                <a:spcPts val="800"/>
              </a:spcAft>
              <a:buSzPct val="100000"/>
              <a:buChar char="•"/>
            </a:pPr>
            <a:r>
              <a:rPr lang="en-US" sz="1500" dirty="0">
                <a:solidFill>
                  <a:schemeClr val="tx1"/>
                </a:solidFill>
              </a:rPr>
              <a:t>Lectura prudente: ventaja consistente, no una superioridad establecida.</a:t>
            </a:r>
            <a:endParaRPr lang="en-US" sz="15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APLICACIÓN: SEGUIMIENTO TEMPORAL</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Las silo-bolsas se vacían a lo largo del invierno</a:t>
            </a:r>
            <a:endParaRPr lang="en-US" sz="3200" dirty="0"/>
          </a:p>
        </p:txBody>
      </p:sp>
      <p:graphicFrame>
        <p:nvGraphicFramePr>
          <p:cNvPr id="4" name="Chart 0" descr=""/>
          <p:cNvGraphicFramePr/>
          <p:nvPr/>
        </p:nvGraphicFramePr>
        <p:xfrm>
          <a:off x="548640" y="1645920"/>
          <a:ext cx="630936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223760" y="1645920"/>
            <a:ext cx="43891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58 → 29</a:t>
            </a:r>
            <a:endParaRPr lang="en-US" sz="4800" dirty="0"/>
          </a:p>
        </p:txBody>
      </p:sp>
      <p:sp>
        <p:nvSpPr>
          <p:cNvPr id="6" name="Text 3"/>
          <p:cNvSpPr txBox="1"/>
          <p:nvPr/>
        </p:nvSpPr>
        <p:spPr>
          <a:xfrm>
            <a:off x="7223760" y="2560320"/>
            <a:ext cx="4389120" cy="685800"/>
          </a:xfrm>
          <a:prstGeom prst="rect">
            <a:avLst/>
          </a:prstGeom>
          <a:noFill/>
          <a:ln/>
        </p:spPr>
        <p:txBody>
          <a:bodyPr wrap="square" lIns="0" tIns="0" rIns="0" bIns="0" rtlCol="0" anchor="t"/>
          <a:lstStyle/>
          <a:p>
            <a:pPr indent="0" marL="0">
              <a:buNone/>
            </a:pPr>
            <a:r>
              <a:rPr lang="en-US" sz="1400" dirty="0">
                <a:solidFill>
                  <a:schemeClr val="accent3"/>
                </a:solidFill>
              </a:rPr>
              <a:t>detecciones entre principios de junio y fines de agosto de 2021</a:t>
            </a:r>
            <a:endParaRPr lang="en-US" sz="1400" dirty="0"/>
          </a:p>
        </p:txBody>
      </p:sp>
      <p:sp>
        <p:nvSpPr>
          <p:cNvPr id="7" name="Text 4"/>
          <p:cNvSpPr txBox="1"/>
          <p:nvPr/>
        </p:nvSpPr>
        <p:spPr>
          <a:xfrm>
            <a:off x="7223760" y="3337560"/>
            <a:ext cx="4389120"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34 min</a:t>
            </a:r>
            <a:endParaRPr lang="en-US" sz="4800" dirty="0"/>
          </a:p>
        </p:txBody>
      </p:sp>
      <p:sp>
        <p:nvSpPr>
          <p:cNvPr id="8" name="Text 5"/>
          <p:cNvSpPr txBox="1"/>
          <p:nvPr/>
        </p:nvSpPr>
        <p:spPr>
          <a:xfrm>
            <a:off x="7223760" y="4251960"/>
            <a:ext cx="4389120" cy="685800"/>
          </a:xfrm>
          <a:prstGeom prst="rect">
            <a:avLst/>
          </a:prstGeom>
          <a:noFill/>
          <a:ln/>
        </p:spPr>
        <p:txBody>
          <a:bodyPr wrap="square" lIns="0" tIns="0" rIns="0" bIns="0" rtlCol="0" anchor="t"/>
          <a:lstStyle/>
          <a:p>
            <a:pPr indent="0" marL="0">
              <a:buNone/>
            </a:pPr>
            <a:r>
              <a:rPr lang="en-US" sz="1400" dirty="0">
                <a:solidFill>
                  <a:schemeClr val="accent3"/>
                </a:solidFill>
              </a:rPr>
              <a:t>para procesar el departamento completo (146 teselas) en una computadora sin GPU</a:t>
            </a:r>
            <a:endParaRPr lang="en-US" sz="1400" dirty="0"/>
          </a:p>
        </p:txBody>
      </p:sp>
      <p:sp>
        <p:nvSpPr>
          <p:cNvPr id="9" name="Text 6"/>
          <p:cNvSpPr txBox="1"/>
          <p:nvPr/>
        </p:nvSpPr>
        <p:spPr>
          <a:xfrm>
            <a:off x="7223760" y="5166360"/>
            <a:ext cx="4389120" cy="822960"/>
          </a:xfrm>
          <a:prstGeom prst="rect">
            <a:avLst/>
          </a:prstGeom>
          <a:noFill/>
          <a:ln/>
        </p:spPr>
        <p:txBody>
          <a:bodyPr wrap="square" lIns="0" tIns="0" rIns="0" bIns="0" rtlCol="0" anchor="t"/>
          <a:lstStyle/>
          <a:p>
            <a:pPr indent="0" marL="0">
              <a:buNone/>
            </a:pPr>
            <a:r>
              <a:rPr lang="en-US" sz="1400" i="1" dirty="0">
                <a:solidFill>
                  <a:schemeClr val="accent3"/>
                </a:solidFill>
              </a:rPr>
              <a:t>Detecciones sin validar con verdad de terreno: ilustran la factibilidad, no son un inventario.</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APLICACIÓN: SEGUIMIENTO TEMPORAL</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 misma zona, a principios de junio y a fines de agosto</a:t>
            </a:r>
            <a:endParaRPr lang="en-US" sz="3200" dirty="0"/>
          </a:p>
        </p:txBody>
      </p:sp>
      <p:pic>
        <p:nvPicPr>
          <p:cNvPr id="4" name="fig_F_8" descr="/home/claude/ppt/ims/fig_F_8.jpg">    </p:cNvPr>
          <p:cNvPicPr>
            <a:picLocks noChangeAspect="1"/>
          </p:cNvPicPr>
          <p:nvPr/>
        </p:nvPicPr>
        <p:blipFill>
          <a:blip r:embed="rId1"/>
          <a:stretch>
            <a:fillRect/>
          </a:stretch>
        </p:blipFill>
        <p:spPr>
          <a:xfrm>
            <a:off x="602070" y="1645920"/>
            <a:ext cx="5379539" cy="3291840"/>
          </a:xfrm>
          <a:prstGeom prst="rect">
            <a:avLst/>
          </a:prstGeom>
        </p:spPr>
      </p:pic>
      <p:pic>
        <p:nvPicPr>
          <p:cNvPr id="5" name="fig_F_15" descr="/home/claude/ppt/ims/fig_F_15.jpg">    </p:cNvPr>
          <p:cNvPicPr>
            <a:picLocks noChangeAspect="1"/>
          </p:cNvPicPr>
          <p:nvPr/>
        </p:nvPicPr>
        <p:blipFill>
          <a:blip r:embed="rId2"/>
          <a:stretch>
            <a:fillRect/>
          </a:stretch>
        </p:blipFill>
        <p:spPr>
          <a:xfrm>
            <a:off x="6225630" y="1645920"/>
            <a:ext cx="5379539" cy="3291840"/>
          </a:xfrm>
          <a:prstGeom prst="rect">
            <a:avLst/>
          </a:prstGeom>
        </p:spPr>
      </p:pic>
      <p:sp>
        <p:nvSpPr>
          <p:cNvPr id="6" name="nota_zoom"/>
          <p:cNvSpPr/>
          <p:nvPr/>
        </p:nvSpPr>
        <p:spPr>
          <a:xfrm>
            <a:off x="548640" y="5120640"/>
            <a:ext cx="11064240" cy="914400"/>
          </a:xfrm>
          <a:prstGeom prst="roundRect">
            <a:avLst>
              <a:gd name="adj" fmla="val 12000"/>
            </a:avLst>
          </a:prstGeom>
          <a:solidFill>
            <a:schemeClr val="bg2"/>
          </a:solidFill>
          <a:ln w="12700">
            <a:solidFill>
              <a:schemeClr val="bg2"/>
            </a:solidFill>
            <a:prstDash val="solid"/>
          </a:ln>
        </p:spPr>
      </p:sp>
      <p:sp>
        <p:nvSpPr>
          <p:cNvPr id="7" name="Text 3"/>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500" b="1" dirty="0">
                <a:solidFill>
                  <a:schemeClr val="accent1"/>
                </a:solidFill>
              </a:rPr>
              <a:t>Cada imagen: </a:t>
            </a:r>
            <a:pPr indent="0" marL="0">
              <a:buNone/>
            </a:pPr>
            <a:r>
              <a:rPr lang="en-US" sz="1500" dirty="0">
                <a:solidFill>
                  <a:schemeClr val="tx1"/>
                </a:solidFill>
              </a:rPr>
              <a:t>tesela completa (10 × 10 km) y una zona ampliada fija de 2,5 × 2,5 km para seguir las mismas silo-bolsas. Las 15 fechas están en el Apéndice F.</a:t>
            </a:r>
            <a:endParaRPr lang="en-US" sz="15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body" hasCustomPrompt="1"/>
          </p:nvPr>
        </p:nvSpPr>
        <p:spPr>
          <a:xfrm>
            <a:off x="822960" y="146304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05</a:t>
            </a:r>
            <a:endParaRPr lang="en-US" sz="9600" dirty="0"/>
          </a:p>
        </p:txBody>
      </p:sp>
      <p:sp>
        <p:nvSpPr>
          <p:cNvPr id="3" name="Text 0"/>
          <p:cNvSpPr/>
          <p:nvPr>
            <p:ph idx="102" type="title" hasCustomPrompt="1"/>
          </p:nvPr>
        </p:nvSpPr>
        <p:spPr>
          <a:xfrm>
            <a:off x="822960" y="3063240"/>
            <a:ext cx="10515600" cy="11887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Cierre</a:t>
            </a:r>
            <a:endParaRPr lang="en-US" sz="4000" dirty="0"/>
          </a:p>
        </p:txBody>
      </p:sp>
      <p:sp>
        <p:nvSpPr>
          <p:cNvPr id="4" name="Text 0"/>
          <p:cNvSpPr/>
          <p:nvPr>
            <p:ph idx="103" type="body" hasCustomPrompt="1"/>
          </p:nvPr>
        </p:nvSpPr>
        <p:spPr>
          <a:xfrm>
            <a:off x="822960" y="4297680"/>
            <a:ext cx="10058400" cy="109728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Limitaciones, conclusiones y lo que sigue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LIMITACIONES Y CONSIDERACIONES ÉTICAS</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Lo que este trabajo no resuelve, dicho con claridad</a:t>
            </a:r>
            <a:endParaRPr lang="en-US" sz="3200" dirty="0"/>
          </a:p>
        </p:txBody>
      </p:sp>
      <p:sp>
        <p:nvSpPr>
          <p:cNvPr id="4" name="tarjeta"/>
          <p:cNvSpPr/>
          <p:nvPr/>
        </p:nvSpPr>
        <p:spPr>
          <a:xfrm>
            <a:off x="548640" y="1645920"/>
            <a:ext cx="3154680" cy="2057400"/>
          </a:xfrm>
          <a:prstGeom prst="roundRect">
            <a:avLst>
              <a:gd name="adj" fmla="val 5333"/>
            </a:avLst>
          </a:prstGeom>
          <a:solidFill>
            <a:schemeClr val="bg2"/>
          </a:solidFill>
          <a:ln w="12700">
            <a:solidFill>
              <a:schemeClr val="bg2"/>
            </a:solidFill>
            <a:prstDash val="solid"/>
          </a:ln>
        </p:spPr>
      </p:sp>
      <p:sp>
        <p:nvSpPr>
          <p:cNvPr id="5" name="Text 3"/>
          <p:cNvSpPr txBox="1"/>
          <p:nvPr/>
        </p:nvSpPr>
        <p:spPr>
          <a:xfrm>
            <a:off x="777240" y="1810512"/>
            <a:ext cx="269748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Resolución</a:t>
            </a:r>
            <a:endParaRPr lang="en-US" sz="1700" dirty="0"/>
          </a:p>
        </p:txBody>
      </p:sp>
      <p:sp>
        <p:nvSpPr>
          <p:cNvPr id="6" name="Text 4"/>
          <p:cNvSpPr txBox="1"/>
          <p:nvPr/>
        </p:nvSpPr>
        <p:spPr>
          <a:xfrm>
            <a:off x="777240" y="2267712"/>
            <a:ext cx="2697480" cy="1280160"/>
          </a:xfrm>
          <a:prstGeom prst="rect">
            <a:avLst/>
          </a:prstGeom>
          <a:noFill/>
          <a:ln/>
        </p:spPr>
        <p:txBody>
          <a:bodyPr wrap="square" lIns="0" tIns="0" rIns="0" bIns="0" rtlCol="0" anchor="t"/>
          <a:lstStyle/>
          <a:p>
            <a:pPr indent="0" marL="0">
              <a:buNone/>
            </a:pPr>
            <a:r>
              <a:rPr lang="en-US" sz="1400" dirty="0">
                <a:solidFill>
                  <a:schemeClr val="tx1"/>
                </a:solidFill>
              </a:rPr>
              <a:t>Un 10 % de las bolsas queda por debajo del límite de detectabilidad a 10 m.</a:t>
            </a:r>
            <a:endParaRPr lang="en-US" sz="1400" dirty="0"/>
          </a:p>
        </p:txBody>
      </p:sp>
      <p:sp>
        <p:nvSpPr>
          <p:cNvPr id="7" name="tarjeta"/>
          <p:cNvSpPr/>
          <p:nvPr/>
        </p:nvSpPr>
        <p:spPr>
          <a:xfrm>
            <a:off x="3886200" y="1645920"/>
            <a:ext cx="3154680" cy="2057400"/>
          </a:xfrm>
          <a:prstGeom prst="roundRect">
            <a:avLst>
              <a:gd name="adj" fmla="val 5333"/>
            </a:avLst>
          </a:prstGeom>
          <a:solidFill>
            <a:schemeClr val="bg2"/>
          </a:solidFill>
          <a:ln w="12700">
            <a:solidFill>
              <a:schemeClr val="bg2"/>
            </a:solidFill>
            <a:prstDash val="solid"/>
          </a:ln>
        </p:spPr>
      </p:sp>
      <p:sp>
        <p:nvSpPr>
          <p:cNvPr id="8" name="Text 6"/>
          <p:cNvSpPr txBox="1"/>
          <p:nvPr/>
        </p:nvSpPr>
        <p:spPr>
          <a:xfrm>
            <a:off x="4114800" y="1810512"/>
            <a:ext cx="269748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Verdad de terreno</a:t>
            </a:r>
            <a:endParaRPr lang="en-US" sz="1700" dirty="0"/>
          </a:p>
        </p:txBody>
      </p:sp>
      <p:sp>
        <p:nvSpPr>
          <p:cNvPr id="9" name="Text 7"/>
          <p:cNvSpPr txBox="1"/>
          <p:nvPr/>
        </p:nvSpPr>
        <p:spPr>
          <a:xfrm>
            <a:off x="4114800" y="2267712"/>
            <a:ext cx="2697480" cy="1280160"/>
          </a:xfrm>
          <a:prstGeom prst="rect">
            <a:avLst/>
          </a:prstGeom>
          <a:noFill/>
          <a:ln/>
        </p:spPr>
        <p:txBody>
          <a:bodyPr wrap="square" lIns="0" tIns="0" rIns="0" bIns="0" rtlCol="0" anchor="t"/>
          <a:lstStyle/>
          <a:p>
            <a:pPr indent="0" marL="0">
              <a:buNone/>
            </a:pPr>
            <a:r>
              <a:rPr lang="en-US" sz="1400" dirty="0">
                <a:solidFill>
                  <a:schemeClr val="tx1"/>
                </a:solidFill>
              </a:rPr>
              <a:t>Fotointerpretación sin verificación a campo y con un único anotador.</a:t>
            </a:r>
            <a:endParaRPr lang="en-US" sz="1400" dirty="0"/>
          </a:p>
        </p:txBody>
      </p:sp>
      <p:sp>
        <p:nvSpPr>
          <p:cNvPr id="10" name="tarjeta"/>
          <p:cNvSpPr/>
          <p:nvPr/>
        </p:nvSpPr>
        <p:spPr>
          <a:xfrm>
            <a:off x="548640" y="3886200"/>
            <a:ext cx="3154680" cy="2057400"/>
          </a:xfrm>
          <a:prstGeom prst="roundRect">
            <a:avLst>
              <a:gd name="adj" fmla="val 5333"/>
            </a:avLst>
          </a:prstGeom>
          <a:solidFill>
            <a:schemeClr val="bg2"/>
          </a:solidFill>
          <a:ln w="12700">
            <a:solidFill>
              <a:schemeClr val="bg2"/>
            </a:solidFill>
            <a:prstDash val="solid"/>
          </a:ln>
        </p:spPr>
      </p:sp>
      <p:sp>
        <p:nvSpPr>
          <p:cNvPr id="11" name="Text 9"/>
          <p:cNvSpPr txBox="1"/>
          <p:nvPr/>
        </p:nvSpPr>
        <p:spPr>
          <a:xfrm>
            <a:off x="777240" y="4050792"/>
            <a:ext cx="269748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Escala radiométrica</a:t>
            </a:r>
            <a:endParaRPr lang="en-US" sz="1700" dirty="0"/>
          </a:p>
        </p:txBody>
      </p:sp>
      <p:sp>
        <p:nvSpPr>
          <p:cNvPr id="12" name="Text 10"/>
          <p:cNvSpPr txBox="1"/>
          <p:nvPr/>
        </p:nvSpPr>
        <p:spPr>
          <a:xfrm>
            <a:off x="777240" y="4507992"/>
            <a:ext cx="2697480" cy="1280160"/>
          </a:xfrm>
          <a:prstGeom prst="rect">
            <a:avLst/>
          </a:prstGeom>
          <a:noFill/>
          <a:ln/>
        </p:spPr>
        <p:txBody>
          <a:bodyPr wrap="square" lIns="0" tIns="0" rIns="0" bIns="0" rtlCol="0" anchor="t"/>
          <a:lstStyle/>
          <a:p>
            <a:pPr indent="0" marL="0">
              <a:buNone/>
            </a:pPr>
            <a:r>
              <a:rPr lang="en-US" sz="1400" dirty="0">
                <a:solidFill>
                  <a:schemeClr val="tx1"/>
                </a:solidFill>
              </a:rPr>
              <a:t>El offset de ESA desde 2022 no se corrigió; afecta igual a todas las versiones.</a:t>
            </a:r>
            <a:endParaRPr lang="en-US" sz="1400" dirty="0"/>
          </a:p>
        </p:txBody>
      </p:sp>
      <p:sp>
        <p:nvSpPr>
          <p:cNvPr id="13" name="tarjeta"/>
          <p:cNvSpPr/>
          <p:nvPr/>
        </p:nvSpPr>
        <p:spPr>
          <a:xfrm>
            <a:off x="3886200" y="3886200"/>
            <a:ext cx="3154680" cy="2057400"/>
          </a:xfrm>
          <a:prstGeom prst="roundRect">
            <a:avLst>
              <a:gd name="adj" fmla="val 5333"/>
            </a:avLst>
          </a:prstGeom>
          <a:solidFill>
            <a:schemeClr val="bg2"/>
          </a:solidFill>
          <a:ln w="12700">
            <a:solidFill>
              <a:schemeClr val="bg2"/>
            </a:solidFill>
            <a:prstDash val="solid"/>
          </a:ln>
        </p:spPr>
      </p:sp>
      <p:sp>
        <p:nvSpPr>
          <p:cNvPr id="14" name="Text 12"/>
          <p:cNvSpPr txBox="1"/>
          <p:nvPr/>
        </p:nvSpPr>
        <p:spPr>
          <a:xfrm>
            <a:off x="4114800" y="4050792"/>
            <a:ext cx="269748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Alcance</a:t>
            </a:r>
            <a:endParaRPr lang="en-US" sz="1700" dirty="0"/>
          </a:p>
        </p:txBody>
      </p:sp>
      <p:sp>
        <p:nvSpPr>
          <p:cNvPr id="15" name="Text 13"/>
          <p:cNvSpPr txBox="1"/>
          <p:nvPr/>
        </p:nvSpPr>
        <p:spPr>
          <a:xfrm>
            <a:off x="4114800" y="4507992"/>
            <a:ext cx="2697480" cy="1280160"/>
          </a:xfrm>
          <a:prstGeom prst="rect">
            <a:avLst/>
          </a:prstGeom>
          <a:noFill/>
          <a:ln/>
        </p:spPr>
        <p:txBody>
          <a:bodyPr wrap="square" lIns="0" tIns="0" rIns="0" bIns="0" rtlCol="0" anchor="t"/>
          <a:lstStyle/>
          <a:p>
            <a:pPr indent="0" marL="0">
              <a:buNone/>
            </a:pPr>
            <a:r>
              <a:rPr lang="en-US" sz="1400" dirty="0">
                <a:solidFill>
                  <a:schemeClr val="tx1"/>
                </a:solidFill>
              </a:rPr>
              <a:t>Un departamento y la ventana invernal; requiere ajuste para otras regiones.</a:t>
            </a:r>
            <a:endParaRPr lang="en-US" sz="1400" dirty="0"/>
          </a:p>
        </p:txBody>
      </p:sp>
      <p:sp>
        <p:nvSpPr>
          <p:cNvPr id="16" name="etica"/>
          <p:cNvSpPr/>
          <p:nvPr/>
        </p:nvSpPr>
        <p:spPr>
          <a:xfrm>
            <a:off x="7406640" y="1645920"/>
            <a:ext cx="4206240" cy="4297680"/>
          </a:xfrm>
          <a:prstGeom prst="roundRect">
            <a:avLst>
              <a:gd name="adj" fmla="val 2609"/>
            </a:avLst>
          </a:prstGeom>
          <a:solidFill>
            <a:schemeClr val="tx2"/>
          </a:solidFill>
          <a:ln w="12700">
            <a:solidFill>
              <a:schemeClr val="tx2"/>
            </a:solidFill>
            <a:prstDash val="solid"/>
          </a:ln>
        </p:spPr>
      </p:sp>
      <p:sp>
        <p:nvSpPr>
          <p:cNvPr id="17" name="Text 15"/>
          <p:cNvSpPr txBox="1"/>
          <p:nvPr/>
        </p:nvSpPr>
        <p:spPr>
          <a:xfrm>
            <a:off x="7680960" y="1828800"/>
            <a:ext cx="3657600" cy="45720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Ética y privacidad</a:t>
            </a:r>
            <a:endParaRPr lang="en-US" sz="1800" dirty="0"/>
          </a:p>
        </p:txBody>
      </p:sp>
      <p:sp>
        <p:nvSpPr>
          <p:cNvPr id="18" name="Text 16"/>
          <p:cNvSpPr txBox="1"/>
          <p:nvPr/>
        </p:nvSpPr>
        <p:spPr>
          <a:xfrm>
            <a:off x="7680960" y="2377440"/>
            <a:ext cx="3657600" cy="3474720"/>
          </a:xfrm>
          <a:prstGeom prst="rect">
            <a:avLst/>
          </a:prstGeom>
          <a:noFill/>
          <a:ln/>
        </p:spPr>
        <p:txBody>
          <a:bodyPr wrap="square" lIns="0" tIns="0" rIns="0" bIns="0" rtlCol="0" anchor="t"/>
          <a:lstStyle/>
          <a:p>
            <a:pPr indent="0" marL="0">
              <a:buNone/>
            </a:pPr>
            <a:r>
              <a:rPr lang="en-US" sz="1400" dirty="0">
                <a:solidFill>
                  <a:schemeClr val="bg1"/>
                </a:solidFill>
              </a:rPr>
              <a:t>Imágenes públicas y de resolución media, que no permiten identificar personas. Se observa infraestructura, no individuos. El uso propuesto es agregado y estadístico; no se publican ubicaciones ni datos vinculables a un productor (Ley 25.326). Y como el modelo no es exacto, no es apto para fiscalización individual.</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CONCLUSIONES</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 calidad de la verdad de terreno prima sobre su cantidad</a:t>
            </a:r>
            <a:endParaRPr lang="en-US" sz="3200" dirty="0"/>
          </a:p>
        </p:txBody>
      </p:sp>
      <p:sp>
        <p:nvSpPr>
          <p:cNvPr id="4" name="num_con"/>
          <p:cNvSpPr/>
          <p:nvPr/>
        </p:nvSpPr>
        <p:spPr>
          <a:xfrm>
            <a:off x="548640" y="1737360"/>
            <a:ext cx="685800" cy="685800"/>
          </a:xfrm>
          <a:prstGeom prst="ellipse">
            <a:avLst/>
          </a:prstGeom>
          <a:solidFill>
            <a:schemeClr val="accent2"/>
          </a:solidFill>
          <a:ln w="12700">
            <a:solidFill>
              <a:schemeClr val="accent2"/>
            </a:solidFill>
            <a:prstDash val="solid"/>
          </a:ln>
        </p:spPr>
      </p:sp>
      <p:sp>
        <p:nvSpPr>
          <p:cNvPr id="5" name="Text 3"/>
          <p:cNvSpPr txBox="1"/>
          <p:nvPr/>
        </p:nvSpPr>
        <p:spPr>
          <a:xfrm>
            <a:off x="548640" y="173736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463040" y="1645920"/>
            <a:ext cx="54864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Eficiencia de datos</a:t>
            </a:r>
            <a:endParaRPr lang="en-US" sz="2000" dirty="0"/>
          </a:p>
        </p:txBody>
      </p:sp>
      <p:sp>
        <p:nvSpPr>
          <p:cNvPr id="7" name="Text 5"/>
          <p:cNvSpPr txBox="1"/>
          <p:nvPr/>
        </p:nvSpPr>
        <p:spPr>
          <a:xfrm>
            <a:off x="1463040" y="2084832"/>
            <a:ext cx="5760720" cy="868680"/>
          </a:xfrm>
          <a:prstGeom prst="rect">
            <a:avLst/>
          </a:prstGeom>
          <a:noFill/>
          <a:ln/>
        </p:spPr>
        <p:txBody>
          <a:bodyPr wrap="square" lIns="0" tIns="0" rIns="0" bIns="0" rtlCol="0" anchor="t"/>
          <a:lstStyle/>
          <a:p>
            <a:pPr indent="0" marL="0">
              <a:buNone/>
            </a:pPr>
            <a:r>
              <a:rPr lang="en-US" sz="1500" dirty="0">
                <a:solidFill>
                  <a:schemeClr val="tx1"/>
                </a:solidFill>
              </a:rPr>
              <a:t>216 imágenes curadas igualan o superan a ≈10.000 ruidosas: mejor F1, la mitad de falsos positivos y el mismo recall, con el 2 % de los datos.</a:t>
            </a:r>
            <a:endParaRPr lang="en-US" sz="1500" dirty="0"/>
          </a:p>
        </p:txBody>
      </p:sp>
      <p:sp>
        <p:nvSpPr>
          <p:cNvPr id="8" name="num_con"/>
          <p:cNvSpPr/>
          <p:nvPr/>
        </p:nvSpPr>
        <p:spPr>
          <a:xfrm>
            <a:off x="548640" y="3200400"/>
            <a:ext cx="685800" cy="685800"/>
          </a:xfrm>
          <a:prstGeom prst="ellipse">
            <a:avLst/>
          </a:prstGeom>
          <a:solidFill>
            <a:schemeClr val="accent2"/>
          </a:solidFill>
          <a:ln w="12700">
            <a:solidFill>
              <a:schemeClr val="accent2"/>
            </a:solidFill>
            <a:prstDash val="solid"/>
          </a:ln>
        </p:spPr>
      </p:sp>
      <p:sp>
        <p:nvSpPr>
          <p:cNvPr id="9" name="Text 7"/>
          <p:cNvSpPr txBox="1"/>
          <p:nvPr/>
        </p:nvSpPr>
        <p:spPr>
          <a:xfrm>
            <a:off x="548640" y="320040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463040" y="3108960"/>
            <a:ext cx="54864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Robustez temporal</a:t>
            </a:r>
            <a:endParaRPr lang="en-US" sz="2000" dirty="0"/>
          </a:p>
        </p:txBody>
      </p:sp>
      <p:sp>
        <p:nvSpPr>
          <p:cNvPr id="11" name="Text 9"/>
          <p:cNvSpPr txBox="1"/>
          <p:nvPr/>
        </p:nvSpPr>
        <p:spPr>
          <a:xfrm>
            <a:off x="1463040" y="3547872"/>
            <a:ext cx="5760720" cy="868680"/>
          </a:xfrm>
          <a:prstGeom prst="rect">
            <a:avLst/>
          </a:prstGeom>
          <a:noFill/>
          <a:ln/>
        </p:spPr>
        <p:txBody>
          <a:bodyPr wrap="square" lIns="0" tIns="0" rIns="0" bIns="0" rtlCol="0" anchor="t"/>
          <a:lstStyle/>
          <a:p>
            <a:pPr indent="0" marL="0">
              <a:buNone/>
            </a:pPr>
            <a:r>
              <a:rPr lang="en-US" sz="1500" dirty="0">
                <a:solidFill>
                  <a:schemeClr val="tx1"/>
                </a:solidFill>
              </a:rPr>
              <a:t>En 2026, V5 obtiene el mejor desempeño global y supera de forma significativa a la línea de base ruidosa.</a:t>
            </a:r>
            <a:endParaRPr lang="en-US" sz="1500" dirty="0"/>
          </a:p>
        </p:txBody>
      </p:sp>
      <p:sp>
        <p:nvSpPr>
          <p:cNvPr id="12" name="num_con"/>
          <p:cNvSpPr/>
          <p:nvPr/>
        </p:nvSpPr>
        <p:spPr>
          <a:xfrm>
            <a:off x="548640" y="4663440"/>
            <a:ext cx="685800" cy="685800"/>
          </a:xfrm>
          <a:prstGeom prst="ellipse">
            <a:avLst/>
          </a:prstGeom>
          <a:solidFill>
            <a:schemeClr val="accent2"/>
          </a:solidFill>
          <a:ln w="12700">
            <a:solidFill>
              <a:schemeClr val="accent2"/>
            </a:solidFill>
            <a:prstDash val="solid"/>
          </a:ln>
        </p:spPr>
      </p:sp>
      <p:sp>
        <p:nvSpPr>
          <p:cNvPr id="13" name="Text 11"/>
          <p:cNvSpPr txBox="1"/>
          <p:nvPr/>
        </p:nvSpPr>
        <p:spPr>
          <a:xfrm>
            <a:off x="548640" y="466344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463040" y="4572000"/>
            <a:ext cx="54864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Etiquetado viable</a:t>
            </a:r>
            <a:endParaRPr lang="en-US" sz="2000" dirty="0"/>
          </a:p>
        </p:txBody>
      </p:sp>
      <p:sp>
        <p:nvSpPr>
          <p:cNvPr id="15" name="Text 13"/>
          <p:cNvSpPr txBox="1"/>
          <p:nvPr/>
        </p:nvSpPr>
        <p:spPr>
          <a:xfrm>
            <a:off x="1463040" y="5010912"/>
            <a:ext cx="5760720" cy="868680"/>
          </a:xfrm>
          <a:prstGeom prst="rect">
            <a:avLst/>
          </a:prstGeom>
          <a:noFill/>
          <a:ln/>
        </p:spPr>
        <p:txBody>
          <a:bodyPr wrap="square" lIns="0" tIns="0" rIns="0" bIns="0" rtlCol="0" anchor="t"/>
          <a:lstStyle/>
          <a:p>
            <a:pPr indent="0" marL="0">
              <a:buNone/>
            </a:pPr>
            <a:r>
              <a:rPr lang="en-US" sz="1500" dirty="0">
                <a:solidFill>
                  <a:schemeClr val="tx1"/>
                </a:solidFill>
              </a:rPr>
              <a:t>Índice INBNV más curación manual: una estrategia reproducible para construir verdad de terreno de objetos pequeños.</a:t>
            </a:r>
            <a:endParaRPr lang="en-US" sz="1500" dirty="0"/>
          </a:p>
        </p:txBody>
      </p:sp>
      <p:sp>
        <p:nvSpPr>
          <p:cNvPr id="16" name="Text 14"/>
          <p:cNvSpPr txBox="1"/>
          <p:nvPr/>
        </p:nvSpPr>
        <p:spPr>
          <a:xfrm>
            <a:off x="7863840" y="1828800"/>
            <a:ext cx="3749040" cy="868680"/>
          </a:xfrm>
          <a:prstGeom prst="rect">
            <a:avLst/>
          </a:prstGeom>
          <a:noFill/>
          <a:ln/>
        </p:spPr>
        <p:txBody>
          <a:bodyPr wrap="square" lIns="0" tIns="0" rIns="0" bIns="0" rtlCol="0" anchor="b"/>
          <a:lstStyle/>
          <a:p>
            <a:pPr indent="0" marL="0">
              <a:buNone/>
            </a:pPr>
            <a:r>
              <a:rPr lang="en-US" sz="8000" b="1" dirty="0">
                <a:solidFill>
                  <a:schemeClr val="accent1"/>
                </a:solidFill>
                <a:latin typeface="Cambria" pitchFamily="34" charset="0"/>
                <a:ea typeface="Cambria" pitchFamily="34" charset="-122"/>
                <a:cs typeface="Cambria" pitchFamily="34" charset="-120"/>
              </a:rPr>
              <a:t>2 %</a:t>
            </a:r>
            <a:endParaRPr lang="en-US" sz="8000" dirty="0"/>
          </a:p>
        </p:txBody>
      </p:sp>
      <p:sp>
        <p:nvSpPr>
          <p:cNvPr id="17" name="Text 15"/>
          <p:cNvSpPr txBox="1"/>
          <p:nvPr/>
        </p:nvSpPr>
        <p:spPr>
          <a:xfrm>
            <a:off x="7863840" y="2743200"/>
            <a:ext cx="3749040" cy="685800"/>
          </a:xfrm>
          <a:prstGeom prst="rect">
            <a:avLst/>
          </a:prstGeom>
          <a:noFill/>
          <a:ln/>
        </p:spPr>
        <p:txBody>
          <a:bodyPr wrap="square" lIns="0" tIns="0" rIns="0" bIns="0" rtlCol="0" anchor="t"/>
          <a:lstStyle/>
          <a:p>
            <a:pPr indent="0" marL="0">
              <a:buNone/>
            </a:pPr>
            <a:r>
              <a:rPr lang="en-US" sz="1400" dirty="0">
                <a:solidFill>
                  <a:schemeClr val="accent3"/>
                </a:solidFill>
              </a:rPr>
              <a:t>de los datos para un modelo mejor</a:t>
            </a:r>
            <a:endParaRPr lang="en-US" sz="1400" dirty="0"/>
          </a:p>
        </p:txBody>
      </p:sp>
      <p:sp>
        <p:nvSpPr>
          <p:cNvPr id="18" name="Text 16"/>
          <p:cNvSpPr txBox="1"/>
          <p:nvPr/>
        </p:nvSpPr>
        <p:spPr>
          <a:xfrm>
            <a:off x="7863840" y="3840480"/>
            <a:ext cx="3749040" cy="868680"/>
          </a:xfrm>
          <a:prstGeom prst="rect">
            <a:avLst/>
          </a:prstGeom>
          <a:noFill/>
          <a:ln/>
        </p:spPr>
        <p:txBody>
          <a:bodyPr wrap="square" lIns="0" tIns="0" rIns="0" bIns="0" rtlCol="0" anchor="b"/>
          <a:lstStyle/>
          <a:p>
            <a:pPr indent="0" marL="0">
              <a:buNone/>
            </a:pPr>
            <a:r>
              <a:rPr lang="en-US" sz="6600" b="1" dirty="0">
                <a:solidFill>
                  <a:schemeClr val="accent6"/>
                </a:solidFill>
                <a:latin typeface="Cambria" pitchFamily="34" charset="0"/>
                <a:ea typeface="Cambria" pitchFamily="34" charset="-122"/>
                <a:cs typeface="Cambria" pitchFamily="34" charset="-120"/>
              </a:rPr>
              <a:t>−70 %</a:t>
            </a:r>
            <a:endParaRPr lang="en-US" sz="6600" dirty="0"/>
          </a:p>
        </p:txBody>
      </p:sp>
      <p:sp>
        <p:nvSpPr>
          <p:cNvPr id="19" name="Text 17"/>
          <p:cNvSpPr txBox="1"/>
          <p:nvPr/>
        </p:nvSpPr>
        <p:spPr>
          <a:xfrm>
            <a:off x="7863840" y="4754880"/>
            <a:ext cx="3749040" cy="685800"/>
          </a:xfrm>
          <a:prstGeom prst="rect">
            <a:avLst/>
          </a:prstGeom>
          <a:noFill/>
          <a:ln/>
        </p:spPr>
        <p:txBody>
          <a:bodyPr wrap="square" lIns="0" tIns="0" rIns="0" bIns="0" rtlCol="0" anchor="t"/>
          <a:lstStyle/>
          <a:p>
            <a:pPr indent="0" marL="0">
              <a:buNone/>
            </a:pPr>
            <a:r>
              <a:rPr lang="en-US" sz="1400" dirty="0">
                <a:solidFill>
                  <a:schemeClr val="accent3"/>
                </a:solidFill>
              </a:rPr>
              <a:t>de falsas alarmas sobre el fondo</a:t>
            </a:r>
            <a:endParaRPr lang="en-US" sz="14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APORTE A LA CIENCIA DE DATOS</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Lo que este trabajo deja más allá de las silo-bolsas</a:t>
            </a:r>
            <a:endParaRPr lang="en-US" sz="3200" dirty="0"/>
          </a:p>
        </p:txBody>
      </p:sp>
      <p:sp>
        <p:nvSpPr>
          <p:cNvPr id="4" name="tarjeta"/>
          <p:cNvSpPr/>
          <p:nvPr/>
        </p:nvSpPr>
        <p:spPr>
          <a:xfrm>
            <a:off x="548640" y="1645920"/>
            <a:ext cx="5440680" cy="1417320"/>
          </a:xfrm>
          <a:prstGeom prst="roundRect">
            <a:avLst>
              <a:gd name="adj" fmla="val 7742"/>
            </a:avLst>
          </a:prstGeom>
          <a:solidFill>
            <a:schemeClr val="bg2"/>
          </a:solidFill>
          <a:ln w="12700">
            <a:solidFill>
              <a:schemeClr val="bg2"/>
            </a:solidFill>
            <a:prstDash val="solid"/>
          </a:ln>
        </p:spPr>
      </p:sp>
      <p:sp>
        <p:nvSpPr>
          <p:cNvPr id="5" name="Text 3"/>
          <p:cNvSpPr txBox="1"/>
          <p:nvPr/>
        </p:nvSpPr>
        <p:spPr>
          <a:xfrm>
            <a:off x="777240" y="1810512"/>
            <a:ext cx="498348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Retorno de curar</a:t>
            </a:r>
            <a:endParaRPr lang="en-US" sz="1700" dirty="0"/>
          </a:p>
        </p:txBody>
      </p:sp>
      <p:sp>
        <p:nvSpPr>
          <p:cNvPr id="6" name="Text 4"/>
          <p:cNvSpPr txBox="1"/>
          <p:nvPr/>
        </p:nvSpPr>
        <p:spPr>
          <a:xfrm>
            <a:off x="777240" y="2267712"/>
            <a:ext cx="4983480" cy="640080"/>
          </a:xfrm>
          <a:prstGeom prst="rect">
            <a:avLst/>
          </a:prstGeom>
          <a:noFill/>
          <a:ln/>
        </p:spPr>
        <p:txBody>
          <a:bodyPr wrap="square" lIns="0" tIns="0" rIns="0" bIns="0" rtlCol="0" anchor="t"/>
          <a:lstStyle/>
          <a:p>
            <a:pPr indent="0" marL="0">
              <a:buNone/>
            </a:pPr>
            <a:r>
              <a:rPr lang="en-US" sz="1400" dirty="0">
                <a:solidFill>
                  <a:schemeClr val="tx1"/>
                </a:solidFill>
              </a:rPr>
              <a:t>Cuantifica, sobre un problema real, cuánto rinde invertir en calidad del dato frente a volumen.</a:t>
            </a:r>
            <a:endParaRPr lang="en-US" sz="1400" dirty="0"/>
          </a:p>
        </p:txBody>
      </p:sp>
      <p:sp>
        <p:nvSpPr>
          <p:cNvPr id="7" name="tarjeta"/>
          <p:cNvSpPr/>
          <p:nvPr/>
        </p:nvSpPr>
        <p:spPr>
          <a:xfrm>
            <a:off x="6172200" y="1645920"/>
            <a:ext cx="5440680" cy="1417320"/>
          </a:xfrm>
          <a:prstGeom prst="roundRect">
            <a:avLst>
              <a:gd name="adj" fmla="val 7742"/>
            </a:avLst>
          </a:prstGeom>
          <a:solidFill>
            <a:schemeClr val="bg2"/>
          </a:solidFill>
          <a:ln w="12700">
            <a:solidFill>
              <a:schemeClr val="bg2"/>
            </a:solidFill>
            <a:prstDash val="solid"/>
          </a:ln>
        </p:spPr>
      </p:sp>
      <p:sp>
        <p:nvSpPr>
          <p:cNvPr id="8" name="Text 6"/>
          <p:cNvSpPr txBox="1"/>
          <p:nvPr/>
        </p:nvSpPr>
        <p:spPr>
          <a:xfrm>
            <a:off x="6400800" y="1810512"/>
            <a:ext cx="498348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Etiquetado reutilizable</a:t>
            </a:r>
            <a:endParaRPr lang="en-US" sz="1700" dirty="0"/>
          </a:p>
        </p:txBody>
      </p:sp>
      <p:sp>
        <p:nvSpPr>
          <p:cNvPr id="9" name="Text 7"/>
          <p:cNvSpPr txBox="1"/>
          <p:nvPr/>
        </p:nvSpPr>
        <p:spPr>
          <a:xfrm>
            <a:off x="6400800" y="2267712"/>
            <a:ext cx="4983480" cy="640080"/>
          </a:xfrm>
          <a:prstGeom prst="rect">
            <a:avLst/>
          </a:prstGeom>
          <a:noFill/>
          <a:ln/>
        </p:spPr>
        <p:txBody>
          <a:bodyPr wrap="square" lIns="0" tIns="0" rIns="0" bIns="0" rtlCol="0" anchor="t"/>
          <a:lstStyle/>
          <a:p>
            <a:pPr indent="0" marL="0">
              <a:buNone/>
            </a:pPr>
            <a:r>
              <a:rPr lang="en-US" sz="1400" dirty="0">
                <a:solidFill>
                  <a:schemeClr val="tx1"/>
                </a:solidFill>
              </a:rPr>
              <a:t>Regla física simple que genera candidatos y decisión final en manos de un especialista.</a:t>
            </a:r>
            <a:endParaRPr lang="en-US" sz="1400" dirty="0"/>
          </a:p>
        </p:txBody>
      </p:sp>
      <p:sp>
        <p:nvSpPr>
          <p:cNvPr id="10" name="tarjeta"/>
          <p:cNvSpPr/>
          <p:nvPr/>
        </p:nvSpPr>
        <p:spPr>
          <a:xfrm>
            <a:off x="548640" y="3246120"/>
            <a:ext cx="5440680" cy="1417320"/>
          </a:xfrm>
          <a:prstGeom prst="roundRect">
            <a:avLst>
              <a:gd name="adj" fmla="val 7742"/>
            </a:avLst>
          </a:prstGeom>
          <a:solidFill>
            <a:schemeClr val="bg2"/>
          </a:solidFill>
          <a:ln w="12700">
            <a:solidFill>
              <a:schemeClr val="bg2"/>
            </a:solidFill>
            <a:prstDash val="solid"/>
          </a:ln>
        </p:spPr>
      </p:sp>
      <p:sp>
        <p:nvSpPr>
          <p:cNvPr id="11" name="Text 9"/>
          <p:cNvSpPr txBox="1"/>
          <p:nvPr/>
        </p:nvSpPr>
        <p:spPr>
          <a:xfrm>
            <a:off x="777240" y="3410712"/>
            <a:ext cx="498348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La evaluación importa</a:t>
            </a:r>
            <a:endParaRPr lang="en-US" sz="1700" dirty="0"/>
          </a:p>
        </p:txBody>
      </p:sp>
      <p:sp>
        <p:nvSpPr>
          <p:cNvPr id="12" name="Text 10"/>
          <p:cNvSpPr txBox="1"/>
          <p:nvPr/>
        </p:nvSpPr>
        <p:spPr>
          <a:xfrm>
            <a:off x="777240" y="3867912"/>
            <a:ext cx="4983480" cy="640080"/>
          </a:xfrm>
          <a:prstGeom prst="rect">
            <a:avLst/>
          </a:prstGeom>
          <a:noFill/>
          <a:ln/>
        </p:spPr>
        <p:txBody>
          <a:bodyPr wrap="square" lIns="0" tIns="0" rIns="0" bIns="0" rtlCol="0" anchor="t"/>
          <a:lstStyle/>
          <a:p>
            <a:pPr indent="0" marL="0">
              <a:buNone/>
            </a:pPr>
            <a:r>
              <a:rPr lang="en-US" sz="1400" dirty="0">
                <a:solidFill>
                  <a:schemeClr val="tx1"/>
                </a:solidFill>
              </a:rPr>
              <a:t>Deduplicación, umbral de IoU y tipo de error cambian la lectura tanto como el modelo.</a:t>
            </a:r>
            <a:endParaRPr lang="en-US" sz="1400" dirty="0"/>
          </a:p>
        </p:txBody>
      </p:sp>
      <p:sp>
        <p:nvSpPr>
          <p:cNvPr id="13" name="tarjeta"/>
          <p:cNvSpPr/>
          <p:nvPr/>
        </p:nvSpPr>
        <p:spPr>
          <a:xfrm>
            <a:off x="6172200" y="3246120"/>
            <a:ext cx="5440680" cy="1417320"/>
          </a:xfrm>
          <a:prstGeom prst="roundRect">
            <a:avLst>
              <a:gd name="adj" fmla="val 7742"/>
            </a:avLst>
          </a:prstGeom>
          <a:solidFill>
            <a:schemeClr val="bg2"/>
          </a:solidFill>
          <a:ln w="12700">
            <a:solidFill>
              <a:schemeClr val="bg2"/>
            </a:solidFill>
            <a:prstDash val="solid"/>
          </a:ln>
        </p:spPr>
      </p:sp>
      <p:sp>
        <p:nvSpPr>
          <p:cNvPr id="14" name="Text 12"/>
          <p:cNvSpPr txBox="1"/>
          <p:nvPr/>
        </p:nvSpPr>
        <p:spPr>
          <a:xfrm>
            <a:off x="6400800" y="3410712"/>
            <a:ext cx="498348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Escala y bajo costo</a:t>
            </a:r>
            <a:endParaRPr lang="en-US" sz="1700" dirty="0"/>
          </a:p>
        </p:txBody>
      </p:sp>
      <p:sp>
        <p:nvSpPr>
          <p:cNvPr id="15" name="Text 13"/>
          <p:cNvSpPr txBox="1"/>
          <p:nvPr/>
        </p:nvSpPr>
        <p:spPr>
          <a:xfrm>
            <a:off x="6400800" y="3867912"/>
            <a:ext cx="4983480" cy="640080"/>
          </a:xfrm>
          <a:prstGeom prst="rect">
            <a:avLst/>
          </a:prstGeom>
          <a:noFill/>
          <a:ln/>
        </p:spPr>
        <p:txBody>
          <a:bodyPr wrap="square" lIns="0" tIns="0" rIns="0" bIns="0" rtlCol="0" anchor="t"/>
          <a:lstStyle/>
          <a:p>
            <a:pPr indent="0" marL="0">
              <a:buNone/>
            </a:pPr>
            <a:r>
              <a:rPr lang="en-US" sz="1400" dirty="0">
                <a:solidFill>
                  <a:schemeClr val="tx1"/>
                </a:solidFill>
              </a:rPr>
              <a:t>Pipeline completo, sobre todo un departamento, repetible en cada fecha, con datos gratuitos y sin GPU.</a:t>
            </a:r>
            <a:endParaRPr lang="en-US" sz="1400" dirty="0"/>
          </a:p>
        </p:txBody>
      </p:sp>
      <p:sp>
        <p:nvSpPr>
          <p:cNvPr id="16" name="sintesis"/>
          <p:cNvSpPr/>
          <p:nvPr/>
        </p:nvSpPr>
        <p:spPr>
          <a:xfrm>
            <a:off x="548640" y="4937760"/>
            <a:ext cx="11064240" cy="1097280"/>
          </a:xfrm>
          <a:prstGeom prst="roundRect">
            <a:avLst>
              <a:gd name="adj" fmla="val 10000"/>
            </a:avLst>
          </a:prstGeom>
          <a:solidFill>
            <a:schemeClr val="tx2"/>
          </a:solidFill>
          <a:ln w="12700">
            <a:solidFill>
              <a:schemeClr val="tx2"/>
            </a:solidFill>
            <a:prstDash val="solid"/>
          </a:ln>
        </p:spPr>
      </p:sp>
      <p:sp>
        <p:nvSpPr>
          <p:cNvPr id="17" name="Text 15"/>
          <p:cNvSpPr txBox="1"/>
          <p:nvPr/>
        </p:nvSpPr>
        <p:spPr>
          <a:xfrm>
            <a:off x="822960" y="4937760"/>
            <a:ext cx="10515600" cy="1097280"/>
          </a:xfrm>
          <a:prstGeom prst="rect">
            <a:avLst/>
          </a:prstGeom>
          <a:noFill/>
          <a:ln/>
        </p:spPr>
        <p:txBody>
          <a:bodyPr wrap="square" lIns="0" tIns="0" rIns="0" bIns="0" rtlCol="0" anchor="ctr"/>
          <a:lstStyle/>
          <a:p>
            <a:pPr indent="0" marL="0">
              <a:buNone/>
            </a:pPr>
            <a:r>
              <a:rPr lang="en-US" sz="1800" i="1" dirty="0">
                <a:solidFill>
                  <a:schemeClr val="bg1"/>
                </a:solidFill>
              </a:rPr>
              <a:t>En síntesis: antes de pedir más datos o más cómputo, conviene preguntarse cuánto vale curar mejor los que ya se tienen.</a:t>
            </a:r>
            <a:endParaRPr lang="en-US" sz="18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2"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TRABAJOS FUTUROS</a:t>
            </a:r>
            <a:endParaRPr lang="en-US" sz="1200" dirty="0"/>
          </a:p>
        </p:txBody>
      </p:sp>
      <p:sp>
        <p:nvSpPr>
          <p:cNvPr id="3" name="Text 1"/>
          <p:cNvSpPr/>
          <p:nvPr>
            <p:ph idx="103" type="title" hasCustomPrompt="1"/>
          </p:nvPr>
        </p:nvSpPr>
        <p:spPr>
          <a:xfrm>
            <a:off x="548640" y="64008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Próximos pasos</a:t>
            </a:r>
            <a:endParaRPr lang="en-US" sz="3200" dirty="0"/>
          </a:p>
        </p:txBody>
      </p:sp>
      <p:sp>
        <p:nvSpPr>
          <p:cNvPr id="4" name="tarjeta"/>
          <p:cNvSpPr/>
          <p:nvPr/>
        </p:nvSpPr>
        <p:spPr>
          <a:xfrm>
            <a:off x="548640" y="1645920"/>
            <a:ext cx="2651760" cy="3017520"/>
          </a:xfrm>
          <a:prstGeom prst="roundRect">
            <a:avLst>
              <a:gd name="adj" fmla="val 4138"/>
            </a:avLst>
          </a:prstGeom>
          <a:solidFill>
            <a:schemeClr val="bg2"/>
          </a:solidFill>
          <a:ln w="12700">
            <a:solidFill>
              <a:schemeClr val="bg2"/>
            </a:solidFill>
            <a:prstDash val="solid"/>
          </a:ln>
        </p:spPr>
      </p:sp>
      <p:sp>
        <p:nvSpPr>
          <p:cNvPr id="5" name="Text 3"/>
          <p:cNvSpPr txBox="1"/>
          <p:nvPr/>
        </p:nvSpPr>
        <p:spPr>
          <a:xfrm>
            <a:off x="777240" y="1810512"/>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Más datos y años</a:t>
            </a:r>
            <a:endParaRPr lang="en-US" sz="1700" dirty="0"/>
          </a:p>
        </p:txBody>
      </p:sp>
      <p:sp>
        <p:nvSpPr>
          <p:cNvPr id="6" name="Text 4"/>
          <p:cNvSpPr txBox="1"/>
          <p:nvPr/>
        </p:nvSpPr>
        <p:spPr>
          <a:xfrm>
            <a:off x="777240" y="2267712"/>
            <a:ext cx="2194560" cy="2240280"/>
          </a:xfrm>
          <a:prstGeom prst="rect">
            <a:avLst/>
          </a:prstGeom>
          <a:noFill/>
          <a:ln/>
        </p:spPr>
        <p:txBody>
          <a:bodyPr wrap="square" lIns="0" tIns="0" rIns="0" bIns="0" rtlCol="0" anchor="t"/>
          <a:lstStyle/>
          <a:p>
            <a:pPr indent="0" marL="0">
              <a:buNone/>
            </a:pPr>
            <a:r>
              <a:rPr lang="en-US" sz="1400" dirty="0">
                <a:solidFill>
                  <a:schemeClr val="tx1"/>
                </a:solidFill>
              </a:rPr>
              <a:t>Extender la validación temporal, generalizar a otras regiones y validar la verdad de terreno a campo con más anotadores.</a:t>
            </a:r>
            <a:endParaRPr lang="en-US" sz="1400" dirty="0"/>
          </a:p>
        </p:txBody>
      </p:sp>
      <p:sp>
        <p:nvSpPr>
          <p:cNvPr id="7" name="tarjeta"/>
          <p:cNvSpPr/>
          <p:nvPr/>
        </p:nvSpPr>
        <p:spPr>
          <a:xfrm>
            <a:off x="3360420" y="1645920"/>
            <a:ext cx="2651760" cy="3017520"/>
          </a:xfrm>
          <a:prstGeom prst="roundRect">
            <a:avLst>
              <a:gd name="adj" fmla="val 4138"/>
            </a:avLst>
          </a:prstGeom>
          <a:solidFill>
            <a:schemeClr val="bg2"/>
          </a:solidFill>
          <a:ln w="12700">
            <a:solidFill>
              <a:schemeClr val="bg2"/>
            </a:solidFill>
            <a:prstDash val="solid"/>
          </a:ln>
        </p:spPr>
      </p:sp>
      <p:sp>
        <p:nvSpPr>
          <p:cNvPr id="8" name="Text 6"/>
          <p:cNvSpPr txBox="1"/>
          <p:nvPr/>
        </p:nvSpPr>
        <p:spPr>
          <a:xfrm>
            <a:off x="3589020" y="1810512"/>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Más señal</a:t>
            </a:r>
            <a:endParaRPr lang="en-US" sz="1700" dirty="0"/>
          </a:p>
        </p:txBody>
      </p:sp>
      <p:sp>
        <p:nvSpPr>
          <p:cNvPr id="9" name="Text 7"/>
          <p:cNvSpPr txBox="1"/>
          <p:nvPr/>
        </p:nvSpPr>
        <p:spPr>
          <a:xfrm>
            <a:off x="3589020" y="2267712"/>
            <a:ext cx="2194560" cy="2240280"/>
          </a:xfrm>
          <a:prstGeom prst="rect">
            <a:avLst/>
          </a:prstGeom>
          <a:noFill/>
          <a:ln/>
        </p:spPr>
        <p:txBody>
          <a:bodyPr wrap="square" lIns="0" tIns="0" rIns="0" bIns="0" rtlCol="0" anchor="t"/>
          <a:lstStyle/>
          <a:p>
            <a:pPr indent="0" marL="0">
              <a:buNone/>
            </a:pPr>
            <a:r>
              <a:rPr lang="en-US" sz="1400" dirty="0">
                <a:solidFill>
                  <a:schemeClr val="tx1"/>
                </a:solidFill>
              </a:rPr>
              <a:t>Incorporar el NIR al modelo, fusionar con radar Sentinel-1 y homogeneizar la escala radiométrica.</a:t>
            </a:r>
            <a:endParaRPr lang="en-US" sz="1400" dirty="0"/>
          </a:p>
        </p:txBody>
      </p:sp>
      <p:sp>
        <p:nvSpPr>
          <p:cNvPr id="10" name="tarjeta"/>
          <p:cNvSpPr/>
          <p:nvPr/>
        </p:nvSpPr>
        <p:spPr>
          <a:xfrm>
            <a:off x="6172200" y="1645920"/>
            <a:ext cx="2651760" cy="3017520"/>
          </a:xfrm>
          <a:prstGeom prst="roundRect">
            <a:avLst>
              <a:gd name="adj" fmla="val 4138"/>
            </a:avLst>
          </a:prstGeom>
          <a:solidFill>
            <a:schemeClr val="bg2"/>
          </a:solidFill>
          <a:ln w="12700">
            <a:solidFill>
              <a:schemeClr val="bg2"/>
            </a:solidFill>
            <a:prstDash val="solid"/>
          </a:ln>
        </p:spPr>
      </p:sp>
      <p:sp>
        <p:nvSpPr>
          <p:cNvPr id="11" name="Text 9"/>
          <p:cNvSpPr txBox="1"/>
          <p:nvPr/>
        </p:nvSpPr>
        <p:spPr>
          <a:xfrm>
            <a:off x="6400800" y="1810512"/>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Más modelo</a:t>
            </a:r>
            <a:endParaRPr lang="en-US" sz="1700" dirty="0"/>
          </a:p>
        </p:txBody>
      </p:sp>
      <p:sp>
        <p:nvSpPr>
          <p:cNvPr id="12" name="Text 10"/>
          <p:cNvSpPr txBox="1"/>
          <p:nvPr/>
        </p:nvSpPr>
        <p:spPr>
          <a:xfrm>
            <a:off x="6400800" y="2267712"/>
            <a:ext cx="2194560" cy="2240280"/>
          </a:xfrm>
          <a:prstGeom prst="rect">
            <a:avLst/>
          </a:prstGeom>
          <a:noFill/>
          <a:ln/>
        </p:spPr>
        <p:txBody>
          <a:bodyPr wrap="square" lIns="0" tIns="0" rIns="0" bIns="0" rtlCol="0" anchor="t"/>
          <a:lstStyle/>
          <a:p>
            <a:pPr indent="0" marL="0">
              <a:buNone/>
            </a:pPr>
            <a:r>
              <a:rPr lang="en-US" sz="1400" dirty="0">
                <a:solidFill>
                  <a:schemeClr val="tx1"/>
                </a:solidFill>
              </a:rPr>
              <a:t>Probar detectores recientes y cajas orientadas, y medir el aporte de las anclas con una ablación.</a:t>
            </a:r>
            <a:endParaRPr lang="en-US" sz="1400" dirty="0"/>
          </a:p>
        </p:txBody>
      </p:sp>
      <p:sp>
        <p:nvSpPr>
          <p:cNvPr id="13" name="tarjeta"/>
          <p:cNvSpPr/>
          <p:nvPr/>
        </p:nvSpPr>
        <p:spPr>
          <a:xfrm>
            <a:off x="8983980" y="1645920"/>
            <a:ext cx="2651760" cy="3017520"/>
          </a:xfrm>
          <a:prstGeom prst="roundRect">
            <a:avLst>
              <a:gd name="adj" fmla="val 4138"/>
            </a:avLst>
          </a:prstGeom>
          <a:solidFill>
            <a:schemeClr val="bg2"/>
          </a:solidFill>
          <a:ln w="12700">
            <a:solidFill>
              <a:schemeClr val="bg2"/>
            </a:solidFill>
            <a:prstDash val="solid"/>
          </a:ln>
        </p:spPr>
      </p:sp>
      <p:sp>
        <p:nvSpPr>
          <p:cNvPr id="14" name="Text 12"/>
          <p:cNvSpPr txBox="1"/>
          <p:nvPr/>
        </p:nvSpPr>
        <p:spPr>
          <a:xfrm>
            <a:off x="9212580" y="1810512"/>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Más producto</a:t>
            </a:r>
            <a:endParaRPr lang="en-US" sz="1700" dirty="0"/>
          </a:p>
        </p:txBody>
      </p:sp>
      <p:sp>
        <p:nvSpPr>
          <p:cNvPr id="15" name="Text 13"/>
          <p:cNvSpPr txBox="1"/>
          <p:nvPr/>
        </p:nvSpPr>
        <p:spPr>
          <a:xfrm>
            <a:off x="9212580" y="2267712"/>
            <a:ext cx="2194560" cy="2240280"/>
          </a:xfrm>
          <a:prstGeom prst="rect">
            <a:avLst/>
          </a:prstGeom>
          <a:noFill/>
          <a:ln/>
        </p:spPr>
        <p:txBody>
          <a:bodyPr wrap="square" lIns="0" tIns="0" rIns="0" bIns="0" rtlCol="0" anchor="t"/>
          <a:lstStyle/>
          <a:p>
            <a:pPr indent="0" marL="0">
              <a:buNone/>
            </a:pPr>
            <a:r>
              <a:rPr lang="en-US" sz="1400" dirty="0">
                <a:solidFill>
                  <a:schemeClr val="tx1"/>
                </a:solidFill>
              </a:rPr>
              <a:t>Pasar de la detección a la segmentación para estimar volúmenes y desarrollar una herramienta de consulta.</a:t>
            </a:r>
            <a:endParaRPr lang="en-US" sz="1400" dirty="0"/>
          </a:p>
        </p:txBody>
      </p:sp>
      <p:sp>
        <p:nvSpPr>
          <p:cNvPr id="16" name="meta"/>
          <p:cNvSpPr/>
          <p:nvPr/>
        </p:nvSpPr>
        <p:spPr>
          <a:xfrm>
            <a:off x="548640" y="4937760"/>
            <a:ext cx="11064240" cy="1097280"/>
          </a:xfrm>
          <a:prstGeom prst="roundRect">
            <a:avLst>
              <a:gd name="adj" fmla="val 10000"/>
            </a:avLst>
          </a:prstGeom>
          <a:solidFill>
            <a:schemeClr val="tx2"/>
          </a:solidFill>
          <a:ln w="12700">
            <a:solidFill>
              <a:schemeClr val="tx2"/>
            </a:solidFill>
            <a:prstDash val="solid"/>
          </a:ln>
        </p:spPr>
      </p:sp>
      <p:sp>
        <p:nvSpPr>
          <p:cNvPr id="17" name="Text 15"/>
          <p:cNvSpPr txBox="1"/>
          <p:nvPr/>
        </p:nvSpPr>
        <p:spPr>
          <a:xfrm>
            <a:off x="822960" y="4937760"/>
            <a:ext cx="10515600" cy="1097280"/>
          </a:xfrm>
          <a:prstGeom prst="rect">
            <a:avLst/>
          </a:prstGeom>
          <a:noFill/>
          <a:ln/>
        </p:spPr>
        <p:txBody>
          <a:bodyPr wrap="square" lIns="0" tIns="0" rIns="0" bIns="0" rtlCol="0" anchor="ctr"/>
          <a:lstStyle/>
          <a:p>
            <a:pPr indent="0" marL="0">
              <a:buNone/>
            </a:pPr>
            <a:r>
              <a:rPr lang="en-US" sz="1800" i="1" dirty="0">
                <a:solidFill>
                  <a:schemeClr val="bg1"/>
                </a:solidFill>
              </a:rPr>
              <a:t>El horizonte: pasar de un prototipo validado a un monitoreo operativo y periódico del almacenamiento de granos.</a:t>
            </a:r>
            <a:endParaRPr lang="en-US" sz="1800" dirty="0"/>
          </a:p>
        </p:txBody>
      </p:sp>
      <p:sp>
        <p:nvSpPr>
          <p:cNvPr id="25" name="Slide Number Placeholder 0"/>
          <p:cNvSpPr>
            <a:spLocks noGrp="1"/>
          </p:cNvSpPr>
          <p:nvPr>
            <p:ph type="sldNum" sz="quarter" idx="4294967295"/>
          </p:nvPr>
        </p:nvSpPr>
        <p:spPr>
          <a:xfrm>
            <a:off x="10241280" y="6309360"/>
            <a:ext cx="4114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640080" y="2011680"/>
            <a:ext cx="10881360" cy="1828800"/>
          </a:xfrm>
          <a:prstGeom prst="rect">
            <a:avLst/>
          </a:prstGeom>
          <a:noFill/>
          <a:ln/>
        </p:spPr>
        <p:txBody>
          <a:bodyPr wrap="square" lIns="0" tIns="0" rIns="0" bIns="0" rtlCol="0" anchor="b"/>
          <a:lstStyle/>
          <a:p>
            <a:pPr algn="l" indent="0" marL="0">
              <a:buNone/>
            </a:pPr>
            <a:r>
              <a:rPr lang="en-US" sz="3400" b="1" dirty="0">
                <a:solidFill>
                  <a:schemeClr val="bg1"/>
                </a:solidFill>
                <a:latin typeface="Cambria" pitchFamily="34" charset="0"/>
                <a:ea typeface="Cambria" pitchFamily="34" charset="-122"/>
                <a:cs typeface="Cambria" pitchFamily="34" charset="-120"/>
              </a:rPr>
              <a:t>Muchas gracias</a:t>
            </a:r>
            <a:endParaRPr lang="en-US" sz="3400" dirty="0"/>
          </a:p>
        </p:txBody>
      </p:sp>
      <p:sp>
        <p:nvSpPr>
          <p:cNvPr id="3" name="Text 0"/>
          <p:cNvSpPr/>
          <p:nvPr>
            <p:ph idx="102" type="body" hasCustomPrompt="1"/>
          </p:nvPr>
        </p:nvSpPr>
        <p:spPr>
          <a:xfrm>
            <a:off x="640080" y="4114800"/>
            <a:ext cx="10881360" cy="2011680"/>
          </a:xfrm>
          <a:prstGeom prst="rect">
            <a:avLst/>
          </a:prstGeom>
          <a:noFill/>
          <a:ln/>
        </p:spPr>
        <p:txBody>
          <a:bodyPr wrap="square" lIns="0" tIns="0" rIns="0" bIns="0" rtlCol="0" anchor="t"/>
          <a:lstStyle/>
          <a:p>
            <a:pPr indent="0" marL="0">
              <a:buNone/>
            </a:pPr>
            <a:r>
              <a:rPr lang="en-US" sz="2800" b="1" dirty="0">
                <a:solidFill>
                  <a:schemeClr val="accent2"/>
                </a:solidFill>
                <a:latin typeface="Calibri" pitchFamily="34" charset="0"/>
                <a:ea typeface="Calibri" pitchFamily="34" charset="-122"/>
                <a:cs typeface="Calibri" pitchFamily="34" charset="-120"/>
              </a:rPr>
              <a:t>¿Preguntas?</a:t>
            </a:r>
            <a:endParaRPr lang="en-US" sz="1800" dirty="0"/>
          </a:p>
          <a:p>
            <a:pPr indent="0" marL="0">
              <a:buNone/>
            </a:pPr>
            <a:r>
              <a:rPr lang="en-US" sz="1000" dirty="0">
                <a:solidFill>
                  <a:schemeClr val="accent4"/>
                </a:solidFill>
                <a:latin typeface="Calibri" pitchFamily="34" charset="0"/>
                <a:ea typeface="Calibri" pitchFamily="34" charset="-122"/>
                <a:cs typeface="Calibri" pitchFamily="34" charset="-120"/>
              </a:rPr>
              <a:t> </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Federico Richard · Universidad Austral</a:t>
            </a:r>
            <a:endParaRPr lang="en-US" sz="1800" dirty="0"/>
          </a:p>
          <a:p>
            <a:pPr indent="0" marL="0">
              <a:buNone/>
            </a:pPr>
            <a:r>
              <a:rPr lang="en-US" sz="1800" dirty="0">
                <a:solidFill>
                  <a:schemeClr val="accent4"/>
                </a:solidFill>
                <a:latin typeface="Calibri" pitchFamily="34" charset="0"/>
                <a:ea typeface="Calibri" pitchFamily="34" charset="-122"/>
                <a:cs typeface="Calibri" pitchFamily="34" charset="-120"/>
              </a:rPr>
              <a:t>Código: github.com/federico-syngenta/Silos_FR_MCDtf</a:t>
            </a:r>
            <a:endParaRPr lang="en-US" sz="1800" dirty="0"/>
          </a:p>
        </p:txBody>
      </p:sp>
    </p:spTree>
  </p:cSld>
  <p:clrMapOvr>
    <a:masterClrMapping/>
  </p:clrMapOvr>
</p:sld>
</file>

<file path=ppt/theme/theme1.xml><?xml version="1.0" encoding="utf-8"?>
<a:theme xmlns:a="http://schemas.openxmlformats.org/drawingml/2006/main" name="Austral Tesis">
  <a:themeElements>
    <a:clrScheme name="Austral Tesis">
      <a:dk1>
        <a:srgbClr val="1B1F3B"/>
      </a:dk1>
      <a:lt1>
        <a:srgbClr val="FFFFFF"/>
      </a:lt1>
      <a:dk2>
        <a:srgbClr val="121A5C"/>
      </a:dk2>
      <a:lt2>
        <a:srgbClr val="EEF1FB"/>
      </a:lt2>
      <a:accent1>
        <a:srgbClr val="1D24AB"/>
      </a:accent1>
      <a:accent2>
        <a:srgbClr val="E3A72F"/>
      </a:accent2>
      <a:accent3>
        <a:srgbClr val="5B6B9A"/>
      </a:accent3>
      <a:accent4>
        <a:srgbClr val="9AA7D6"/>
      </a:accent4>
      <a:accent5>
        <a:srgbClr val="2E7D5B"/>
      </a:accent5>
      <a:accent6>
        <a:srgbClr val="C0392B"/>
      </a:accent6>
      <a:hlink>
        <a:srgbClr val="1D24AB"/>
      </a:hlink>
      <a:folHlink>
        <a:srgbClr val="5B6B9A"/>
      </a:folHlink>
    </a:clrScheme>
    <a:fontScheme name="Austral Te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Detección de silo-bolsas con Sentinel-2</dc:title>
  <dc:subject>PptxGenJS Presentation</dc:subject>
  <dc:creator>Federico Richard</dc:creator>
  <cp:lastModifiedBy>Federico Richard</cp:lastModifiedBy>
  <cp:revision>1</cp:revision>
  <dcterms:created xsi:type="dcterms:W3CDTF">2026-10-05T00:11:57Z</dcterms:created>
  <dcterms:modified xsi:type="dcterms:W3CDTF">2026-10-05T00:11:57Z</dcterms:modified>
</cp:coreProperties>
</file>